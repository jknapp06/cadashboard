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97"/>
          <a:sy d="100" n="97"/>
        </p:scale>
        <p:origin x="91" y="101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7" Type="http://schemas.openxmlformats.org/officeDocument/2006/relationships/viewProps" Target="viewProps.xml" /><Relationship Id="rId26" Type="http://schemas.openxmlformats.org/officeDocument/2006/relationships/presProps" Target="presProps.xml" /><Relationship Id="rId31" Type="http://schemas.microsoft.com/office/2015/10/relationships/revisionInfo" Target="revisionInfo.xml" /><Relationship Id="rId1" Type="http://schemas.openxmlformats.org/officeDocument/2006/relationships/slideMaster" Target="slideMasters/slideMaster1.xml" /><Relationship Id="rId30" Type="http://schemas.microsoft.com/office/2016/11/relationships/changesInfo" Target="changesInfos/changesInfo1.xml" /><Relationship Id="rId29" Type="http://schemas.openxmlformats.org/officeDocument/2006/relationships/tableStyles" Target="tableStyles.xml" /><Relationship Id="rId2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DA6793D-AD28-6579-4655-3167D9103203}"/>
              </a:ext>
            </a:extLst>
          </p:cNvPr>
          <p:cNvSpPr/>
          <p:nvPr/>
        </p:nvSpPr>
        <p:spPr>
          <a:xfrm>
            <a:off x="-1" y="841773"/>
            <a:ext cx="9144001" cy="295342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2B37E5-D300-1592-3196-16347820FA0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Slide Deck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E89392-98FE-25C5-8C7E-F0493494865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2701529"/>
            <a:ext cx="6858000" cy="934640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Solano County Office of Education</a:t>
            </a:r>
          </a:p>
          <a:p>
            <a:r>
              <a:rPr lang="en-US" dirty="0"/>
              <a:t>Year</a:t>
            </a:r>
          </a:p>
        </p:txBody>
      </p:sp>
      <p:pic>
        <p:nvPicPr>
          <p:cNvPr id="10" name="Picture 9" descr="A logo with red text&#10;&#10;AI-generated content may be incorrect.">
            <a:extLst>
              <a:ext uri="{FF2B5EF4-FFF2-40B4-BE49-F238E27FC236}">
                <a16:creationId xmlns:a16="http://schemas.microsoft.com/office/drawing/2014/main" id="{2F148169-FAD3-3EE6-1283-58A7C10D54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9959" y="4098803"/>
            <a:ext cx="1944082" cy="921397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4F89569-3AEF-3D51-67FA-CC5951347DA3}"/>
              </a:ext>
            </a:extLst>
          </p:cNvPr>
          <p:cNvSpPr/>
          <p:nvPr/>
        </p:nvSpPr>
        <p:spPr>
          <a:xfrm>
            <a:off x="492919" y="504134"/>
            <a:ext cx="3814763" cy="1703285"/>
          </a:xfrm>
          <a:custGeom>
            <a:avLst/>
            <a:gdLst>
              <a:gd name="connsiteX0" fmla="*/ 0 w 5086350"/>
              <a:gd name="connsiteY0" fmla="*/ 2271047 h 2271047"/>
              <a:gd name="connsiteX1" fmla="*/ 1676400 w 5086350"/>
              <a:gd name="connsiteY1" fmla="*/ 280322 h 2271047"/>
              <a:gd name="connsiteX2" fmla="*/ 5086350 w 5086350"/>
              <a:gd name="connsiteY2" fmla="*/ 61247 h 2271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086350" h="2271047">
                <a:moveTo>
                  <a:pt x="0" y="2271047"/>
                </a:moveTo>
                <a:cubicBezTo>
                  <a:pt x="414337" y="1459834"/>
                  <a:pt x="828675" y="648622"/>
                  <a:pt x="1676400" y="280322"/>
                </a:cubicBezTo>
                <a:cubicBezTo>
                  <a:pt x="2524125" y="-87978"/>
                  <a:pt x="3805237" y="-13366"/>
                  <a:pt x="5086350" y="61247"/>
                </a:cubicBezTo>
              </a:path>
            </a:pathLst>
          </a:custGeom>
          <a:noFill/>
          <a:ln w="139700" cap="rnd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149CECC-EA79-8690-BFAC-4690CC292177}"/>
              </a:ext>
            </a:extLst>
          </p:cNvPr>
          <p:cNvSpPr/>
          <p:nvPr/>
        </p:nvSpPr>
        <p:spPr>
          <a:xfrm>
            <a:off x="6060385" y="1848678"/>
            <a:ext cx="2929559" cy="2446791"/>
          </a:xfrm>
          <a:custGeom>
            <a:avLst/>
            <a:gdLst>
              <a:gd name="connsiteX0" fmla="*/ 0 w 3906078"/>
              <a:gd name="connsiteY0" fmla="*/ 2097157 h 3262388"/>
              <a:gd name="connsiteX1" fmla="*/ 2117035 w 3906078"/>
              <a:gd name="connsiteY1" fmla="*/ 3170583 h 3262388"/>
              <a:gd name="connsiteX2" fmla="*/ 3906078 w 3906078"/>
              <a:gd name="connsiteY2" fmla="*/ 0 h 3262388"/>
              <a:gd name="connsiteX3" fmla="*/ 3906078 w 3906078"/>
              <a:gd name="connsiteY3" fmla="*/ 0 h 326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06078" h="3262388">
                <a:moveTo>
                  <a:pt x="0" y="2097157"/>
                </a:moveTo>
                <a:cubicBezTo>
                  <a:pt x="733011" y="2808633"/>
                  <a:pt x="1466022" y="3520109"/>
                  <a:pt x="2117035" y="3170583"/>
                </a:cubicBezTo>
                <a:cubicBezTo>
                  <a:pt x="2768048" y="2821057"/>
                  <a:pt x="3906078" y="0"/>
                  <a:pt x="3906078" y="0"/>
                </a:cubicBezTo>
                <a:lnTo>
                  <a:pt x="3906078" y="0"/>
                </a:lnTo>
              </a:path>
            </a:pathLst>
          </a:custGeom>
          <a:noFill/>
          <a:ln w="152400" cap="rnd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3251605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B43F4-64B6-7152-A0ED-E3A60DA1F1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BDBDD-1506-E6EB-08B3-3B4E995DE2B3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Main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091B4-31B8-DD41-AE08-CB0747A5D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50F418-43D3-D2A8-0634-01AC12683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49F20-DAA1-B85A-A5A4-925B01310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8F28216-D270-E846-BA46-F5D9D419737B}"/>
              </a:ext>
            </a:extLst>
          </p:cNvPr>
          <p:cNvCxnSpPr>
            <a:cxnSpLocks/>
          </p:cNvCxnSpPr>
          <p:nvPr/>
        </p:nvCxnSpPr>
        <p:spPr>
          <a:xfrm>
            <a:off x="1729408" y="4600575"/>
            <a:ext cx="7414592" cy="0"/>
          </a:xfrm>
          <a:prstGeom prst="line">
            <a:avLst/>
          </a:prstGeom>
          <a:ln w="152400" cap="rnd">
            <a:solidFill>
              <a:schemeClr val="accent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5405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16">
          <p15:clr>
            <a:srgbClr val="FBAE40"/>
          </p15:clr>
        </p15:guide>
        <p15:guide id="3" pos="667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8823472-6FCE-8B41-F3B5-DBC80E5F3DA3}"/>
              </a:ext>
            </a:extLst>
          </p:cNvPr>
          <p:cNvSpPr/>
          <p:nvPr/>
        </p:nvSpPr>
        <p:spPr>
          <a:xfrm>
            <a:off x="623887" y="935832"/>
            <a:ext cx="8520113" cy="255746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048048-D19C-FCF2-EEF1-69C60400FE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887" y="1282304"/>
            <a:ext cx="7548563" cy="221099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44ADA5-CE26-005B-405A-67A440538B0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28650" y="3573066"/>
            <a:ext cx="7543800" cy="79891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Subtitle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5A271C-9DDB-19D8-2F10-46CCCDB34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6E8297-7D53-A648-EAC3-121A42A01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026ED-E004-9B8A-D597-E622A5319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8FD2DCB-887F-2D1C-B9E5-05B57E55E1CB}"/>
              </a:ext>
            </a:extLst>
          </p:cNvPr>
          <p:cNvSpPr/>
          <p:nvPr/>
        </p:nvSpPr>
        <p:spPr>
          <a:xfrm>
            <a:off x="3637722" y="655982"/>
            <a:ext cx="4691103" cy="3570633"/>
          </a:xfrm>
          <a:custGeom>
            <a:avLst/>
            <a:gdLst>
              <a:gd name="connsiteX0" fmla="*/ 0 w 6254804"/>
              <a:gd name="connsiteY0" fmla="*/ 0 h 4760844"/>
              <a:gd name="connsiteX1" fmla="*/ 5774634 w 6254804"/>
              <a:gd name="connsiteY1" fmla="*/ 1033670 h 4760844"/>
              <a:gd name="connsiteX2" fmla="*/ 5854147 w 6254804"/>
              <a:gd name="connsiteY2" fmla="*/ 4760844 h 4760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254804" h="4760844">
                <a:moveTo>
                  <a:pt x="0" y="0"/>
                </a:moveTo>
                <a:cubicBezTo>
                  <a:pt x="2399471" y="120098"/>
                  <a:pt x="4798943" y="240196"/>
                  <a:pt x="5774634" y="1033670"/>
                </a:cubicBezTo>
                <a:cubicBezTo>
                  <a:pt x="6750325" y="1827144"/>
                  <a:pt x="5953538" y="4104861"/>
                  <a:pt x="5854147" y="4760844"/>
                </a:cubicBezTo>
              </a:path>
            </a:pathLst>
          </a:custGeom>
          <a:noFill/>
          <a:ln w="152400" cap="rnd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866032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B3FF2-E634-8F42-EAD5-E75E57C41D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1" y="203670"/>
            <a:ext cx="7943850" cy="85898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747BF-1C1B-2FE2-6738-90D2B83732F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228600" y="1200151"/>
            <a:ext cx="3900488" cy="31718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List 1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FC7A5C-C637-0C0F-84D0-C65B20B93DA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71963" y="1200151"/>
            <a:ext cx="3900488" cy="31718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List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26474A-54C5-4363-7F5F-8A79ED919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6D01FC-222C-52CD-979A-7450EBFA2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9598F6-471D-0DE7-50D5-BCF292DCE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8A158D-B595-542C-25E8-626C46A16A18}"/>
              </a:ext>
            </a:extLst>
          </p:cNvPr>
          <p:cNvSpPr/>
          <p:nvPr/>
        </p:nvSpPr>
        <p:spPr>
          <a:xfrm>
            <a:off x="8243888" y="0"/>
            <a:ext cx="784989" cy="43005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1F5335E-4220-233B-0D6F-D2EFFDC806B5}"/>
              </a:ext>
            </a:extLst>
          </p:cNvPr>
          <p:cNvSpPr/>
          <p:nvPr/>
        </p:nvSpPr>
        <p:spPr>
          <a:xfrm>
            <a:off x="8468139" y="70765"/>
            <a:ext cx="560738" cy="4036581"/>
          </a:xfrm>
          <a:custGeom>
            <a:avLst/>
            <a:gdLst>
              <a:gd name="connsiteX0" fmla="*/ 516835 w 598639"/>
              <a:gd name="connsiteY0" fmla="*/ 0 h 5486400"/>
              <a:gd name="connsiteX1" fmla="*/ 556591 w 598639"/>
              <a:gd name="connsiteY1" fmla="*/ 3607904 h 5486400"/>
              <a:gd name="connsiteX2" fmla="*/ 0 w 598639"/>
              <a:gd name="connsiteY2" fmla="*/ 548640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8639" h="5486400">
                <a:moveTo>
                  <a:pt x="516835" y="0"/>
                </a:moveTo>
                <a:cubicBezTo>
                  <a:pt x="579782" y="1346752"/>
                  <a:pt x="642730" y="2693504"/>
                  <a:pt x="556591" y="3607904"/>
                </a:cubicBezTo>
                <a:cubicBezTo>
                  <a:pt x="470452" y="4522304"/>
                  <a:pt x="235226" y="5004352"/>
                  <a:pt x="0" y="5486400"/>
                </a:cubicBezTo>
              </a:path>
            </a:pathLst>
          </a:custGeom>
          <a:noFill/>
          <a:ln w="152400" cap="rnd">
            <a:solidFill>
              <a:schemeClr val="accent5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3690899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863A39-311D-EDD0-1064-22B05135CA4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8601" y="200026"/>
            <a:ext cx="3964781" cy="85725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List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85E2FE-0F28-8067-C68F-B0DEFDB25BD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28601" y="1200150"/>
            <a:ext cx="3964781" cy="31718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Main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830E3E-149F-5466-CF77-6210714A454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207669" y="200027"/>
            <a:ext cx="3964781" cy="85725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List Title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562B61-410C-BE66-21BC-D4DDE5464288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207669" y="1200150"/>
            <a:ext cx="3964781" cy="31718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Main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9F675C-1731-C865-448A-DF71EB5FC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5BBB28-D9B5-0C7D-EE33-F73D55EAD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D5C3C0-4B56-7E44-1C3F-40A2FF972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A370E64-30CF-B169-B400-FD27A117DF2E}"/>
              </a:ext>
            </a:extLst>
          </p:cNvPr>
          <p:cNvSpPr/>
          <p:nvPr/>
        </p:nvSpPr>
        <p:spPr>
          <a:xfrm>
            <a:off x="8243888" y="0"/>
            <a:ext cx="784989" cy="430053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647216B-3CAC-1A13-29DF-7D88BE439849}"/>
              </a:ext>
            </a:extLst>
          </p:cNvPr>
          <p:cNvSpPr/>
          <p:nvPr/>
        </p:nvSpPr>
        <p:spPr>
          <a:xfrm>
            <a:off x="8468139" y="70765"/>
            <a:ext cx="560738" cy="4036581"/>
          </a:xfrm>
          <a:custGeom>
            <a:avLst/>
            <a:gdLst>
              <a:gd name="connsiteX0" fmla="*/ 516835 w 598639"/>
              <a:gd name="connsiteY0" fmla="*/ 0 h 5486400"/>
              <a:gd name="connsiteX1" fmla="*/ 556591 w 598639"/>
              <a:gd name="connsiteY1" fmla="*/ 3607904 h 5486400"/>
              <a:gd name="connsiteX2" fmla="*/ 0 w 598639"/>
              <a:gd name="connsiteY2" fmla="*/ 548640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8639" h="5486400">
                <a:moveTo>
                  <a:pt x="516835" y="0"/>
                </a:moveTo>
                <a:cubicBezTo>
                  <a:pt x="579782" y="1346752"/>
                  <a:pt x="642730" y="2693504"/>
                  <a:pt x="556591" y="3607904"/>
                </a:cubicBezTo>
                <a:cubicBezTo>
                  <a:pt x="470452" y="4522304"/>
                  <a:pt x="235226" y="5004352"/>
                  <a:pt x="0" y="5486400"/>
                </a:cubicBezTo>
              </a:path>
            </a:pathLst>
          </a:custGeom>
          <a:noFill/>
          <a:ln w="152400" cap="rnd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1829085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135FF1-EA2D-3150-E8C2-F2D7500C1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523D5-449C-E93F-40F2-67755A602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6A4E59-6B95-9836-A2EF-BD7CD9F60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C98B9CA-0B23-6657-F0CF-DEE47DA2A1B4}"/>
              </a:ext>
            </a:extLst>
          </p:cNvPr>
          <p:cNvCxnSpPr>
            <a:cxnSpLocks/>
          </p:cNvCxnSpPr>
          <p:nvPr/>
        </p:nvCxnSpPr>
        <p:spPr>
          <a:xfrm>
            <a:off x="1729408" y="4600575"/>
            <a:ext cx="7414592" cy="0"/>
          </a:xfrm>
          <a:prstGeom prst="line">
            <a:avLst/>
          </a:prstGeom>
          <a:ln w="152400" cap="rnd">
            <a:solidFill>
              <a:schemeClr val="accent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9000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9FA3F-0910-D16A-A913-DC177EE30D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0" y="200025"/>
            <a:ext cx="3350419" cy="8572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AC1A9-99B2-6D1E-7DAB-0A95CA0595C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87391" y="200026"/>
            <a:ext cx="4285059" cy="419576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Main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8FAA3D-BBAF-D97F-3C0A-EB2F8D0B8BF9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228600" y="1200150"/>
            <a:ext cx="3350419" cy="32015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B46386-E505-E119-1B25-236D4089C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34CEF2-8E6A-6F3D-54B5-CF22A4D4C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D53A72-219E-40D7-3E04-972B310ED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B16039B-BAC2-5B3A-226D-EE8C5EDD1DD0}"/>
              </a:ext>
            </a:extLst>
          </p:cNvPr>
          <p:cNvCxnSpPr>
            <a:cxnSpLocks/>
          </p:cNvCxnSpPr>
          <p:nvPr/>
        </p:nvCxnSpPr>
        <p:spPr>
          <a:xfrm>
            <a:off x="1729408" y="4600575"/>
            <a:ext cx="7414592" cy="0"/>
          </a:xfrm>
          <a:prstGeom prst="line">
            <a:avLst/>
          </a:prstGeom>
          <a:ln w="152400" cap="rnd">
            <a:solidFill>
              <a:schemeClr val="accent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0471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theme/theme1.xml" Type="http://schemas.openxmlformats.org/officeDocument/2006/relationships/them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5" Target="../slideLayouts/slideLayout5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media/image1.png" Type="http://schemas.openxmlformats.org/officeDocument/2006/relationships/image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C18AAF-324D-890B-8CE0-4C9B60946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993" y="203670"/>
            <a:ext cx="7923972" cy="858982"/>
          </a:xfrm>
          <a:prstGeom prst="rect">
            <a:avLst/>
          </a:prstGeom>
        </p:spPr>
        <p:txBody>
          <a:bodyPr anchor="b" bIns="45720" lIns="91440" rIns="91440" rtlCol="0" tIns="45720" vert="horz">
            <a:normAutofit/>
          </a:bodyPr>
          <a:lstStyle/>
          <a:p>
            <a:r>
              <a:rPr dirty="0" lang="en-US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B4A5F6-8323-9919-A672-9D317BBD0B0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245993" y="1219201"/>
            <a:ext cx="7923973" cy="3152774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Main text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5970F7-7315-13A4-126E-0747228EC5B3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7087374" y="4798891"/>
            <a:ext cx="12573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FA7FAE-201A-EAAF-3B3D-98B985B8F1C3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1729409" y="4812507"/>
            <a:ext cx="5214864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C6150E-BC56-D6A3-1D4E-AB4F94BD505E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487776" y="4798892"/>
            <a:ext cx="541101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descr="A logo with red text  AI-generated content may be incorrect." id="8" name="Picture 7">
            <a:extLst>
              <a:ext uri="{FF2B5EF4-FFF2-40B4-BE49-F238E27FC236}">
                <a16:creationId xmlns:a16="http://schemas.microsoft.com/office/drawing/2014/main" id="{AF251EA0-AAC0-BE52-3044-795C2C69C4C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3" y="4472608"/>
            <a:ext cx="1294952" cy="613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7603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 algn="l" defTabSz="685800" eaLnBrk="1" hangingPunct="1" latinLnBrk="0" rtl="0">
        <a:lnSpc>
          <a:spcPct val="90000"/>
        </a:lnSpc>
        <a:spcBef>
          <a:spcPct val="0"/>
        </a:spcBef>
        <a:buNone/>
        <a:defRPr kern="1200" sz="30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685800" eaLnBrk="1" hangingPunct="1" indent="-171450" latinLnBrk="0" marL="171450" rtl="0">
        <a:lnSpc>
          <a:spcPct val="90000"/>
        </a:lnSpc>
        <a:spcBef>
          <a:spcPts val="750"/>
        </a:spcBef>
        <a:buFont charset="0" panose="020B0604020202020204" pitchFamily="34" typeface="Arial"/>
        <a:buChar char="•"/>
        <a:defRPr kern="1200" sz="2100">
          <a:solidFill>
            <a:schemeClr val="tx1"/>
          </a:solidFill>
          <a:latin typeface="+mn-lt"/>
          <a:ea typeface="+mn-ea"/>
          <a:cs typeface="+mn-cs"/>
        </a:defRPr>
      </a:lvl1pPr>
      <a:lvl2pPr algn="l" defTabSz="685800" eaLnBrk="1" hangingPunct="1" indent="-171450" latinLnBrk="0" marL="514350" rtl="0">
        <a:lnSpc>
          <a:spcPct val="90000"/>
        </a:lnSpc>
        <a:spcBef>
          <a:spcPts val="375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685800" eaLnBrk="1" hangingPunct="1" indent="-171450" latinLnBrk="0" marL="857250" rtl="0">
        <a:lnSpc>
          <a:spcPct val="90000"/>
        </a:lnSpc>
        <a:spcBef>
          <a:spcPts val="375"/>
        </a:spcBef>
        <a:buFont charset="0" panose="020B0604020202020204" pitchFamily="34"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3pPr>
      <a:lvl4pPr algn="l" defTabSz="685800" eaLnBrk="1" hangingPunct="1" indent="-171450" latinLnBrk="0" marL="1200150" rtl="0">
        <a:lnSpc>
          <a:spcPct val="90000"/>
        </a:lnSpc>
        <a:spcBef>
          <a:spcPts val="375"/>
        </a:spcBef>
        <a:buFont charset="0" panose="020B0604020202020204" pitchFamily="34" typeface="Arial"/>
        <a:buChar char="•"/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685800" eaLnBrk="1" hangingPunct="1" indent="-171450" latinLnBrk="0" marL="1543050" rtl="0">
        <a:lnSpc>
          <a:spcPct val="90000"/>
        </a:lnSpc>
        <a:spcBef>
          <a:spcPts val="375"/>
        </a:spcBef>
        <a:buFont charset="0" panose="020B0604020202020204" pitchFamily="34" typeface="Arial"/>
        <a:buChar char="•"/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685800" eaLnBrk="1" hangingPunct="1" indent="-171450" latinLnBrk="0" marL="1885950" rtl="0">
        <a:lnSpc>
          <a:spcPct val="90000"/>
        </a:lnSpc>
        <a:spcBef>
          <a:spcPts val="375"/>
        </a:spcBef>
        <a:buFont charset="0" panose="020B0604020202020204" pitchFamily="34" typeface="Arial"/>
        <a:buChar char="•"/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685800" eaLnBrk="1" hangingPunct="1" indent="-171450" latinLnBrk="0" marL="2228850" rtl="0">
        <a:lnSpc>
          <a:spcPct val="90000"/>
        </a:lnSpc>
        <a:spcBef>
          <a:spcPts val="375"/>
        </a:spcBef>
        <a:buFont charset="0" panose="020B0604020202020204" pitchFamily="34" typeface="Arial"/>
        <a:buChar char="•"/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685800" eaLnBrk="1" hangingPunct="1" indent="-171450" latinLnBrk="0" marL="2571750" rtl="0">
        <a:lnSpc>
          <a:spcPct val="90000"/>
        </a:lnSpc>
        <a:spcBef>
          <a:spcPts val="375"/>
        </a:spcBef>
        <a:buFont charset="0" panose="020B0604020202020204" pitchFamily="34" typeface="Arial"/>
        <a:buChar char="•"/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685800" eaLnBrk="1" hangingPunct="1" indent="-171450" latinLnBrk="0" marL="2914650" rtl="0">
        <a:lnSpc>
          <a:spcPct val="90000"/>
        </a:lnSpc>
        <a:spcBef>
          <a:spcPts val="375"/>
        </a:spcBef>
        <a:buFont charset="0" panose="020B0604020202020204" pitchFamily="34" typeface="Arial"/>
        <a:buChar char="•"/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6858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6858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6858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6858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6858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6858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6858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6858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6858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88">
          <p15:clr>
            <a:srgbClr val="F26B43"/>
          </p15:clr>
        </p15:guide>
        <p15:guide id="2" pos="96">
          <p15:clr>
            <a:srgbClr val="F26B43"/>
          </p15:clr>
        </p15:guide>
        <p15:guide id="3" pos="6864">
          <p15:clr>
            <a:srgbClr val="F26B43"/>
          </p15:clr>
        </p15:guide>
        <p15:guide id="4" orient="horz" pos="4272">
          <p15:clr>
            <a:srgbClr val="F26B43"/>
          </p15:clr>
        </p15:guide>
        <p15:guide id="5" orient="horz" pos="3672">
          <p15:clr>
            <a:srgbClr val="F26B43"/>
          </p15:clr>
        </p15:guide>
        <p15:guide id="6" pos="192">
          <p15:clr>
            <a:srgbClr val="F26B43"/>
          </p15:clr>
        </p15:guide>
        <p15:guide id="7" orient="horz" pos="168">
          <p15:clr>
            <a:srgbClr val="F26B43"/>
          </p15:clr>
        </p15:guide>
        <p15:guide id="8" orient="horz" pos="1008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5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6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7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B37E5-D300-1592-3196-16347820FA03}"/>
              </a:ext>
            </a:extLst>
          </p:cNvPr>
          <p:cNvSpPr>
            <a:spLocks noGrp="1"/>
          </p:cNvSpPr>
          <p:nvPr>
            <p:ph hasCustomPrompt="1" type="ctrTitle"/>
          </p:nvPr>
        </p:nvSpPr>
        <p:spPr>
          <a:xfrm>
            <a:off x="1143000" y="841772"/>
            <a:ext cx="6858000" cy="17907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Solano County Dashboard Summary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E89392-98FE-25C5-8C7E-F04934948651}"/>
              </a:ext>
            </a:extLst>
          </p:cNvPr>
          <p:cNvSpPr>
            <a:spLocks noGrp="1"/>
          </p:cNvSpPr>
          <p:nvPr>
            <p:ph hasCustomPrompt="1" idx="1" type="subTitle"/>
          </p:nvPr>
        </p:nvSpPr>
        <p:spPr>
          <a:xfrm>
            <a:off x="1143000" y="2701529"/>
            <a:ext cx="6858000" cy="934640"/>
          </a:xfrm>
        </p:spPr>
        <p:txBody>
          <a:bodyPr/>
          <a:lstStyle/>
          <a:p>
            <a:pPr lvl="0" indent="0" marL="0">
              <a:buNone/>
            </a:pPr>
            <a:r>
              <a:rPr/>
              <a:t>2025</a:t>
            </a:r>
            <a:br/>
            <a:br/>
            <a:r>
              <a:rPr/>
              <a:t>SCOE Assessment Research and Evaluation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48048-D19C-FCF2-EEF1-69C60400FEDC}"/>
              </a:ext>
            </a:extLst>
          </p:cNvPr>
          <p:cNvSpPr>
            <a:spLocks noGrp="1"/>
          </p:cNvSpPr>
          <p:nvPr>
            <p:ph hasCustomPrompt="1" type="title"/>
          </p:nvPr>
        </p:nvSpPr>
        <p:spPr>
          <a:xfrm>
            <a:off x="623887" y="1282304"/>
            <a:ext cx="7548563" cy="221099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Solano County Dashboard Overview 2025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B43F4-64B6-7152-A0ED-E3A60DA1F14B}"/>
              </a:ext>
            </a:extLst>
          </p:cNvPr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Dashboard Colors</a:t>
            </a:r>
          </a:p>
        </p:txBody>
      </p:sp>
      <p:pic>
        <p:nvPicPr>
          <p:cNvPr descr="../images/CDE%20Color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1300" y="1866900"/>
            <a:ext cx="7912100" cy="1346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241300" y="3860800"/>
            <a:ext cx="79121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CA Dashboard Performance Colors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B43F4-64B6-7152-A0ED-E3A60DA1F14B}"/>
              </a:ext>
            </a:extLst>
          </p:cNvPr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 District Indicator Colors</a:t>
            </a:r>
          </a:p>
        </p:txBody>
      </p:sp>
      <p:graphicFrame xmlns:a="http://schemas.openxmlformats.org/drawingml/2006/main" xmlns:r="http://schemas.openxmlformats.org/officeDocument/2006/relationships" xmlns:p="http://schemas.openxmlformats.org/presentationml/2006/main">
        <p:nvGraphicFramePr>
          <p:cNvPr id="621875521" name=""/>
          <p:cNvGraphicFramePr>
            <a:graphicFrameLocks noGrp="true"/>
          </p:cNvGraphicFramePr>
          <p:nvPr/>
        </p:nvGraphicFramePr>
        <p:xfrm rot="0">
          <a:off x="914400" y="1828800"/>
          <a:ext cx="9144000" cy="5486400"/>
        </p:xfrm>
        <a:graphic>
          <a:graphicData uri="http://schemas.openxmlformats.org/drawingml/2006/table">
            <a:tbl>
              <a:tblPr/>
              <a:tblGrid>
                <a:gridCol w="1188720"/>
                <a:gridCol w="914400"/>
                <a:gridCol w="1188720"/>
                <a:gridCol w="914400"/>
                <a:gridCol w="914400"/>
                <a:gridCol w="914400"/>
                <a:gridCol w="1188720"/>
              </a:tblGrid>
              <a:tr h="228600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800" i="0" b="0" u="non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Performance Colors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Performance Colors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Performance Colors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Performance Colors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Performance Colors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Performance Colors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District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No color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Red (lowest performance)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Orange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Yellow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Green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Blue (highest performance)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Benicia Unified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Dixon Unified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Fairfield-Suisun Unified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Solano County Office of Education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Travis Unified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Vacaville Unified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Vallejo City Unified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B43F4-64B6-7152-A0ED-E3A60DA1F14B}"/>
              </a:ext>
            </a:extLst>
          </p:cNvPr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 Charter Indicator Colors</a:t>
            </a:r>
          </a:p>
        </p:txBody>
      </p:sp>
      <p:graphicFrame xmlns:a="http://schemas.openxmlformats.org/drawingml/2006/main" xmlns:r="http://schemas.openxmlformats.org/officeDocument/2006/relationships" xmlns:p="http://schemas.openxmlformats.org/presentationml/2006/main">
        <p:nvGraphicFramePr>
          <p:cNvPr id="989288679" name=""/>
          <p:cNvGraphicFramePr>
            <a:graphicFrameLocks noGrp="true"/>
          </p:cNvGraphicFramePr>
          <p:nvPr/>
        </p:nvGraphicFramePr>
        <p:xfrm rot="0">
          <a:off x="914400" y="1828800"/>
          <a:ext cx="9144000" cy="5486400"/>
        </p:xfrm>
        <a:graphic>
          <a:graphicData uri="http://schemas.openxmlformats.org/drawingml/2006/table">
            <a:tbl>
              <a:tblPr/>
              <a:tblGrid>
                <a:gridCol w="1463040"/>
                <a:gridCol w="914400"/>
                <a:gridCol w="1188720"/>
                <a:gridCol w="914400"/>
                <a:gridCol w="914400"/>
                <a:gridCol w="914400"/>
                <a:gridCol w="1188720"/>
              </a:tblGrid>
              <a:tr h="228600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800" i="0" b="0" u="non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Performance Colors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Performance Colors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Performance Colors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Performance Colors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Performance Colors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Performance Colors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Charter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No color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Red (lowest performance)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Orange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Yellow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Green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Blue (highest performance)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Buckingham Collegiate Charter Academy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Caliber: ChangeMakers Academy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Dixon Montessori Charter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Elite Public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Ernest Kimme Charter Academy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Fairmont Charter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Griffin Academy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Kairos Public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MIT Academy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MIT Griffin Academy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Mare Island Technology Academy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Vallejo Charter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B43F4-64B6-7152-A0ED-E3A60DA1F14B}"/>
              </a:ext>
            </a:extLst>
          </p:cNvPr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 Counts of Indicator Colors in Solano County Student Groups: Race/Ethnicity</a:t>
            </a:r>
          </a:p>
        </p:txBody>
      </p:sp>
      <p:pic>
        <p:nvPicPr>
          <p:cNvPr descr="dashboard_summary_files/figure-pptx/race_ethnicity_char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41400" y="1219200"/>
            <a:ext cx="6299200" cy="3149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B43F4-64B6-7152-A0ED-E3A60DA1F14B}"/>
              </a:ext>
            </a:extLst>
          </p:cNvPr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 Counts of Indicator Colors in Solano County Student Groups: Student Program</a:t>
            </a:r>
          </a:p>
        </p:txBody>
      </p:sp>
      <p:pic>
        <p:nvPicPr>
          <p:cNvPr descr="dashboard_summary_files/figure-pptx/program_char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41400" y="1219200"/>
            <a:ext cx="6299200" cy="3149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B43F4-64B6-7152-A0ED-E3A60DA1F14B}"/>
              </a:ext>
            </a:extLst>
          </p:cNvPr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 County Wide ELA Performance (All students)</a:t>
            </a:r>
          </a:p>
        </p:txBody>
      </p:sp>
      <p:pic>
        <p:nvPicPr>
          <p:cNvPr descr="dashboard_summary_files/figure-pptx/ela_map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41400" y="1219200"/>
            <a:ext cx="6299200" cy="3149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B43F4-64B6-7152-A0ED-E3A60DA1F14B}"/>
              </a:ext>
            </a:extLst>
          </p:cNvPr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 County Wide Math Performance (All students)</a:t>
            </a:r>
          </a:p>
        </p:txBody>
      </p:sp>
      <p:pic>
        <p:nvPicPr>
          <p:cNvPr descr="dashboard_summary_files/figure-pptx/math_map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41400" y="1219200"/>
            <a:ext cx="6299200" cy="3149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B43F4-64B6-7152-A0ED-E3A60DA1F14B}"/>
              </a:ext>
            </a:extLst>
          </p:cNvPr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 County Wide Chronic Absenteeism (All students)</a:t>
            </a:r>
          </a:p>
        </p:txBody>
      </p:sp>
      <p:pic>
        <p:nvPicPr>
          <p:cNvPr descr="dashboard_summary_files/figure-pptx/absent_map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41400" y="1219200"/>
            <a:ext cx="6299200" cy="3149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B43F4-64B6-7152-A0ED-E3A60DA1F14B}"/>
              </a:ext>
            </a:extLst>
          </p:cNvPr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 County Wide Suspension (All students)</a:t>
            </a:r>
          </a:p>
        </p:txBody>
      </p:sp>
      <p:pic>
        <p:nvPicPr>
          <p:cNvPr descr="dashboard_summary_files/figure-pptx/suspension_map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41400" y="1219200"/>
            <a:ext cx="6299200" cy="3149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B43F4-64B6-7152-A0ED-E3A60DA1F14B}"/>
              </a:ext>
            </a:extLst>
          </p:cNvPr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 County Wide Graduation (All students)</a:t>
            </a:r>
          </a:p>
        </p:txBody>
      </p:sp>
      <p:pic>
        <p:nvPicPr>
          <p:cNvPr descr="dashboard_summary_files/figure-pptx/graduation_map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41400" y="1219200"/>
            <a:ext cx="6299200" cy="3149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B43F4-64B6-7152-A0ED-E3A60DA1F14B}"/>
              </a:ext>
            </a:extLst>
          </p:cNvPr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 County Wide College/Career (All students)</a:t>
            </a:r>
          </a:p>
        </p:txBody>
      </p:sp>
      <p:pic>
        <p:nvPicPr>
          <p:cNvPr descr="dashboard_summary_files/figure-pptx/college/career_map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41400" y="1219200"/>
            <a:ext cx="6299200" cy="3149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B43F4-64B6-7152-A0ED-E3A60DA1F14B}"/>
              </a:ext>
            </a:extLst>
          </p:cNvPr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 Long-Term English Learners: Districts</a:t>
            </a:r>
          </a:p>
        </p:txBody>
      </p:sp>
      <p:graphicFrame xmlns:a="http://schemas.openxmlformats.org/drawingml/2006/main" xmlns:r="http://schemas.openxmlformats.org/officeDocument/2006/relationships" xmlns:p="http://schemas.openxmlformats.org/presentationml/2006/main">
        <p:nvGraphicFramePr>
          <p:cNvPr id="779992651" name=""/>
          <p:cNvGraphicFramePr>
            <a:graphicFrameLocks noGrp="true"/>
          </p:cNvGraphicFramePr>
          <p:nvPr/>
        </p:nvGraphicFramePr>
        <p:xfrm rot="0">
          <a:off x="914400" y="1828800"/>
          <a:ext cx="9144000" cy="5486400"/>
        </p:xfrm>
        <a:graphic>
          <a:graphicData uri="http://schemas.openxmlformats.org/drawingml/2006/table">
            <a:tbl>
              <a:tblPr/>
              <a:tblGrid>
                <a:gridCol w="1645920"/>
                <a:gridCol w="914400"/>
                <a:gridCol w="914400"/>
                <a:gridCol w="1097280"/>
                <a:gridCol w="1463040"/>
                <a:gridCol w="1463040"/>
              </a:tblGrid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LEA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Long-Term English Learners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Percent of students that are ELs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Percent of ELs that are LTELs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Solano County Office of Education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256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10.16%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88.46%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Benicia Unified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4,458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150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3.36%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21.33%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Dixon Unified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3,169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696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21.96%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27.87%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Fairfield-Suisun Unified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21,419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3,458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630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16.14%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18.22%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Travis Unified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5,790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227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3.92%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16.3%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Vacaville Unified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12,053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1,053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8.74%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18.14%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Vallejo City Unified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10,037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2,804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646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27.94%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23.04%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Values are taken from the denominator of the suspension indicator which is the most inclusive indicator.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Values are taken from the denominator of the suspension indicator which is the most inclusive indicator.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Values are taken from the denominator of the suspension indicator which is the most inclusive indicator.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Values are taken from the denominator of the suspension indicator which is the most inclusive indicator.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Values are taken from the denominator of the suspension indicator which is the most inclusive indicator.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B43F4-64B6-7152-A0ED-E3A60DA1F14B}"/>
              </a:ext>
            </a:extLst>
          </p:cNvPr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 Long-Term English Learners: Charters</a:t>
            </a:r>
          </a:p>
        </p:txBody>
      </p:sp>
      <p:graphicFrame xmlns:a="http://schemas.openxmlformats.org/drawingml/2006/main" xmlns:r="http://schemas.openxmlformats.org/officeDocument/2006/relationships" xmlns:p="http://schemas.openxmlformats.org/presentationml/2006/main">
        <p:nvGraphicFramePr>
          <p:cNvPr id="653411039" name=""/>
          <p:cNvGraphicFramePr>
            <a:graphicFrameLocks noGrp="true"/>
          </p:cNvGraphicFramePr>
          <p:nvPr/>
        </p:nvGraphicFramePr>
        <p:xfrm rot="0">
          <a:off x="914400" y="1828800"/>
          <a:ext cx="9144000" cy="5486400"/>
        </p:xfrm>
        <a:graphic>
          <a:graphicData uri="http://schemas.openxmlformats.org/drawingml/2006/table">
            <a:tbl>
              <a:tblPr/>
              <a:tblGrid>
                <a:gridCol w="1920240"/>
                <a:gridCol w="914400"/>
                <a:gridCol w="914400"/>
                <a:gridCol w="1097280"/>
                <a:gridCol w="1463040"/>
                <a:gridCol w="1463040"/>
              </a:tblGrid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LEA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Long-Term English Learners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Percent of students that are ELs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Percent of ELs that are LTELs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Buckingham Collegiate Charter Academy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485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0.62%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100%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Caliber: ChangeMakers Academy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1,000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255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25.5%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14.12%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Elite Public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709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159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22.43%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16.35%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Ernest Kimme Charter Academy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244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10.25%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80%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Dixon Montessori Charter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473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6.34%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6.67%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Fairmont Charter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613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13.05%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2.5%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Griffin Academy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16.42%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72.73%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Kairos Public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807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1.36%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36.36%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Mare Island Technology Academy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277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20.58%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57.89%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MIT Academy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498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19.08%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71.58%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MIT Griffin Academy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126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21.43%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74.07%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Vallejo Charter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421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21.14%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19.1%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Values are taken from the denominator of the suspension indicator which is the most inclusive indicator.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Values are taken from the denominator of the suspension indicator which is the most inclusive indicator.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Values are taken from the denominator of the suspension indicator which is the most inclusive indicator.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Values are taken from the denominator of the suspension indicator which is the most inclusive indicator.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Values are taken from the denominator of the suspension indicator which is the most inclusive indicator.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48048-D19C-FCF2-EEF1-69C60400FEDC}"/>
              </a:ext>
            </a:extLst>
          </p:cNvPr>
          <p:cNvSpPr>
            <a:spLocks noGrp="1"/>
          </p:cNvSpPr>
          <p:nvPr>
            <p:ph hasCustomPrompt="1" type="title"/>
          </p:nvPr>
        </p:nvSpPr>
        <p:spPr>
          <a:xfrm>
            <a:off x="623887" y="1282304"/>
            <a:ext cx="7548563" cy="2210990"/>
          </a:xfrm>
        </p:spPr>
        <p:txBody>
          <a:bodyPr/>
          <a:lstStyle/>
          <a:p>
            <a:pPr lvl="0" indent="0" marL="0">
              <a:buNone/>
            </a:pPr>
            <a:r>
              <a:rPr/>
              <a:t>2025 Student Group Details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B43F4-64B6-7152-A0ED-E3A60DA1F14B}"/>
              </a:ext>
            </a:extLst>
          </p:cNvPr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Detail Key</a:t>
            </a:r>
          </a:p>
        </p:txBody>
      </p:sp>
      <p:pic>
        <p:nvPicPr>
          <p:cNvPr descr="../images/dashboard-cell-key-CDE-change%20CSI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1300" y="1435100"/>
            <a:ext cx="7912100" cy="2705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B43F4-64B6-7152-A0ED-E3A60DA1F14B}"/>
              </a:ext>
            </a:extLst>
          </p:cNvPr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 All Students</a:t>
            </a:r>
          </a:p>
        </p:txBody>
      </p:sp>
      <p:pic>
        <p:nvPicPr>
          <p:cNvPr descr="dashboard_summary_files/figure-pptx/all_students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41400" y="1219200"/>
            <a:ext cx="6299200" cy="3149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B43F4-64B6-7152-A0ED-E3A60DA1F14B}"/>
              </a:ext>
            </a:extLst>
          </p:cNvPr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 Students with disabilities</a:t>
            </a:r>
          </a:p>
        </p:txBody>
      </p:sp>
      <p:pic>
        <p:nvPicPr>
          <p:cNvPr descr="dashboard_summary_files/figure-pptx/swd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41400" y="1219200"/>
            <a:ext cx="6299200" cy="3149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B43F4-64B6-7152-A0ED-E3A60DA1F14B}"/>
              </a:ext>
            </a:extLst>
          </p:cNvPr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 Foster</a:t>
            </a:r>
          </a:p>
        </p:txBody>
      </p:sp>
      <p:pic>
        <p:nvPicPr>
          <p:cNvPr descr="dashboard_summary_files/figure-pptx/foster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41400" y="1219200"/>
            <a:ext cx="6299200" cy="3149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B43F4-64B6-7152-A0ED-E3A60DA1F14B}"/>
              </a:ext>
            </a:extLst>
          </p:cNvPr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 English Learners</a:t>
            </a:r>
          </a:p>
        </p:txBody>
      </p:sp>
      <p:pic>
        <p:nvPicPr>
          <p:cNvPr descr="dashboard_summary_files/figure-pptx/el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41400" y="1219200"/>
            <a:ext cx="6299200" cy="3149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B43F4-64B6-7152-A0ED-E3A60DA1F14B}"/>
              </a:ext>
            </a:extLst>
          </p:cNvPr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 Long-Term English Learners</a:t>
            </a:r>
          </a:p>
        </p:txBody>
      </p:sp>
      <p:pic>
        <p:nvPicPr>
          <p:cNvPr descr="dashboard_summary_files/figure-pptx/ltel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41400" y="1219200"/>
            <a:ext cx="6299200" cy="3149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BDBDD-1506-E6EB-08B3-3B4E995DE2B3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2025 Black/African American</a:t>
            </a:r>
          </a:p>
          <a:p>
            <a:pPr lvl="0" indent="0" marL="0">
              <a:buNone/>
            </a:pP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2025 Black/African American (Anonymized)</a:t>
            </a:r>
          </a:p>
          <a:p>
            <a:pPr lvl="0" indent="0" marL="0">
              <a:buNone/>
            </a:pP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B43F4-64B6-7152-A0ED-E3A60DA1F14B}"/>
              </a:ext>
            </a:extLst>
          </p:cNvPr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 Homeless Youth</a:t>
            </a:r>
          </a:p>
        </p:txBody>
      </p:sp>
      <p:pic>
        <p:nvPicPr>
          <p:cNvPr descr="dashboard_summary_files/figure-pptx/homeless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41400" y="1219200"/>
            <a:ext cx="6299200" cy="3149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SCOE Quarto PPTX Template">
  <a:themeElements>
    <a:clrScheme name="SCOE Colors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FFD866"/>
      </a:accent1>
      <a:accent2>
        <a:srgbClr val="E50002"/>
      </a:accent2>
      <a:accent3>
        <a:srgbClr val="005FB2"/>
      </a:accent3>
      <a:accent4>
        <a:srgbClr val="3CA6B9"/>
      </a:accent4>
      <a:accent5>
        <a:srgbClr val="F79236"/>
      </a:accent5>
      <a:accent6>
        <a:srgbClr val="F2F2F2"/>
      </a:accent6>
      <a:hlink>
        <a:srgbClr val="D8D8D8"/>
      </a:hlink>
      <a:folHlink>
        <a:srgbClr val="4D94D8"/>
      </a:folHlink>
    </a:clrScheme>
    <a:fontScheme name="SCOE Fonts">
      <a:majorFont>
        <a:latin typeface="Montserrat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13D827BB-12B8-4F8C-A68E-758CD3A6724C}" vid="{7EDD3185-2CEA-4B6A-895B-32039A6E1C4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SCOE Quarto PPTX Template</Template>
  <TotalTime>3</TotalTime>
  <Words>46</Words>
  <Application>Microsoft Office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Montserrat</vt:lpstr>
      <vt:lpstr>SCOE Quarto PPTX Template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Solano County Dashboard Summary</dc:title>
  <dc:creator>SCOE Assessment Research and Evaluation</dc:creator>
  <cp:keywords/>
  <dcterms:created xsi:type="dcterms:W3CDTF">2025-11-18T00:07:18Z</dcterms:created>
  <dcterms:modified xsi:type="dcterms:W3CDTF">2025-11-18T00:07:18Z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ditor">
    <vt:lpwstr>visual</vt:lpwstr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logo">
    <vt:lpwstr>../www/SCOE_Logo.jpg</vt:lpwstr>
  </property>
  <property fmtid="{D5CDD505-2E9C-101B-9397-08002B2CF9AE}" pid="11" name="subtitle">
    <vt:lpwstr>2025</vt:lpwstr>
  </property>
  <property fmtid="{D5CDD505-2E9C-101B-9397-08002B2CF9AE}" pid="12" name="toc-title">
    <vt:lpwstr>Table of contents</vt:lpwstr>
  </property>
</Properties>
</file>