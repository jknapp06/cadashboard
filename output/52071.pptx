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eginfo.legislature.ca.gov/faces/codes_displayText.xhtml?lawCode=EDC&amp;division=4.&amp;title=2.&amp;part=28.&amp;chapter=6.1.&amp;article=4.5."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52071</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Ed Code Section 52071</a:t>
            </a:r>
          </a:p>
        </p:txBody>
      </p:sp>
      <p:sp>
        <p:nvSpPr>
          <p:cNvPr id="3" name="Content Placeholder 2"/>
          <p:cNvSpPr>
            <a:spLocks noGrp="1"/>
          </p:cNvSpPr>
          <p:nvPr>
            <p:ph idx="1"/>
          </p:nvPr>
        </p:nvSpPr>
        <p:spPr/>
        <p:txBody>
          <a:bodyPr/>
          <a:lstStyle/>
          <a:p>
            <a:pPr lvl="0" indent="0" marL="0">
              <a:buNone/>
            </a:pPr>
            <a:r>
              <a:rPr>
                <a:hlinkClick r:id="rId2"/>
              </a:rPr>
              <a:t>ARTICLE 4.5. Local Control and Accountability Plans and the Statewide System of Support [52059.5 - 52077]</a:t>
            </a:r>
            <a:r>
              <a:rPr/>
              <a:t> (Heading of Article 4.5 amended by Stats. 2018, Ch. 32, Sec. 60. ) 52071. (f) For any school district in which one or more pupil subgroups, identified pursuant to Section 52052 [i.e. any student group on the dashboard], meets the criteria pursuant to subdivision (g) of Section 52064.5 [i.e. qualifies the LEA for DA] for three or more consecutive years, the school district’s geographic lead agency, identified pursuant to Section 52073 [how geoleads are picked], shall, ip collaboration with the county superintendent of schools, provide technical assistance to the school district pursuant to subdivision (c). The geographic lead agency shall evaluate whether the assistance of one or more expert lead agencies should be consulted as part of the technical assistance process.</a:t>
            </a:r>
          </a:p>
          <a:p>
            <a:pPr lvl="0" indent="0" marL="0">
              <a:buNone/>
            </a:pPr>
            <a:r>
              <a:rPr/>
              <a:t>The table below lists student groups that have been eligible for DA for the years 2022, 2023, and 2024.</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Eligible Table</a:t>
            </a:r>
          </a:p>
        </p:txBody>
      </p:sp>
      <p:graphicFrame xmlns:a="http://schemas.openxmlformats.org/drawingml/2006/main" xmlns:r="http://schemas.openxmlformats.org/officeDocument/2006/relationships" xmlns:p="http://schemas.openxmlformats.org/presentationml/2006/main">
        <p:nvGraphicFramePr>
          <p:cNvPr id="147396628" name=""/>
          <p:cNvGraphicFramePr>
            <a:graphicFrameLocks noGrp="true"/>
          </p:cNvGraphicFramePr>
          <p:nvPr/>
        </p:nvGraphicFramePr>
        <p:xfrm rot="0">
          <a:off x="914400" y="1828800"/>
          <a:ext cx="9144000" cy="5486400"/>
        </p:xfrm>
        <a:graphic>
          <a:graphicData uri="http://schemas.openxmlformats.org/drawingml/2006/table">
            <a:tbl>
              <a:tblPr/>
              <a:tblGrid>
                <a:gridCol w="1371600"/>
                <a:gridCol w="1371600"/>
                <a:gridCol w="1371600"/>
                <a:gridCol w="1371600"/>
                <a:gridCol w="1371600"/>
                <a:gridCol w="1371600"/>
              </a:tblGrid>
              <a:tr h="228600">
                <a:tc>
                  <a:txBody>
                    <a:bodyPr/>
                    <a:lstStyle/>
                    <a:p>
                      <a:pPr algn="l" marL="63500" marR="63500">
                        <a:lnSpc>
                          <a:spcPct val="100000"/>
                        </a:lnSpc>
                        <a:spcBef>
                          <a:spcPts val="500"/>
                        </a:spcBef>
                        <a:spcAft>
                          <a:spcPts val="500"/>
                        </a:spcAft>
                        <a:buNone/>
                      </a:pPr>
                      <a:r>
                        <a:rPr cap="none" sz="1100" i="0" b="1" u="none">
                          <a:solidFill>
                            <a:srgbClr val="000000">
                              <a:alpha val="100000"/>
                            </a:srgbClr>
                          </a:solidFill>
                          <a:latin typeface="Arial"/>
                          <a:cs typeface="Arial"/>
                          <a:ea typeface="Arial"/>
                          <a:sym typeface="Arial"/>
                        </a:rPr>
                        <a:t>District</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1" u="none">
                          <a:solidFill>
                            <a:srgbClr val="000000">
                              <a:alpha val="100000"/>
                            </a:srgbClr>
                          </a:solidFill>
                          <a:latin typeface="Arial"/>
                          <a:cs typeface="Arial"/>
                          <a:ea typeface="Arial"/>
                          <a:sym typeface="Arial"/>
                        </a:rPr>
                        <a:t>School</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1" u="none">
                          <a:solidFill>
                            <a:srgbClr val="000000">
                              <a:alpha val="100000"/>
                            </a:srgbClr>
                          </a:solidFill>
                          <a:latin typeface="Arial"/>
                          <a:cs typeface="Arial"/>
                          <a:ea typeface="Arial"/>
                          <a:sym typeface="Arial"/>
                        </a:rPr>
                        <a:t>Student Group</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1" u="none">
                          <a:solidFill>
                            <a:srgbClr val="000000">
                              <a:alpha val="100000"/>
                            </a:srgbClr>
                          </a:solidFill>
                          <a:latin typeface="Arial"/>
                          <a:cs typeface="Arial"/>
                          <a:ea typeface="Arial"/>
                          <a:sym typeface="Arial"/>
                        </a:rPr>
                        <a:t>Eligible indicators: 2022</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1" u="none">
                          <a:solidFill>
                            <a:srgbClr val="000000">
                              <a:alpha val="100000"/>
                            </a:srgbClr>
                          </a:solidFill>
                          <a:latin typeface="Arial"/>
                          <a:cs typeface="Arial"/>
                          <a:ea typeface="Arial"/>
                          <a:sym typeface="Arial"/>
                        </a:rPr>
                        <a:t>Eligible indicators: 2023</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1" u="none">
                          <a:solidFill>
                            <a:srgbClr val="000000">
                              <a:alpha val="100000"/>
                            </a:srgbClr>
                          </a:solidFill>
                          <a:latin typeface="Arial"/>
                          <a:cs typeface="Arial"/>
                          <a:ea typeface="Arial"/>
                          <a:sym typeface="Arial"/>
                        </a:rPr>
                        <a:t>Eligible indicators: 2024</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r h="228600">
                <a:tc rowSpan="3">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Fairfield-Suisun Unified</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rowSpan="3">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District Aggregate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Foster Youth</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graduation; absenteeism; suspension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absenteeism</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absenteeism; suspension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Fairfield-Suisun Unified</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District Aggregate</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Homeless Youth</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absenteeism;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college/career;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Fairfield-Suisun Unified</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District Aggregate</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Students with Disabilities</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graduation; absenteeism</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 graduation;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 graduation;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Travis Unified</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District Aggregate</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Students with Disabilities</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absenteeism</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Vacaville Unified</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District Aggregate</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Students with Disabilities</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absenteeism;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rowSpan="4">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Vallejo City Unified</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rowSpan="4">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District Aggregate</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Black/African American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absenteeism;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college/career;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Vallejo City Unified</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District Aggregate</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English Learner</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graduation; absenteeism</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 graduation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 graduation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Vallejo City Unified</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District Aggregate</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Homeless Youth</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graduation; absenteeism;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 graduation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Vallejo City Unified</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vMerge="true">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District Aggregate</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Students with Disabilities</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graduation; absenteeism;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college/career; graduation; suspension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ELA; Math; college/career; graduation</a:t>
                      </a:r>
                    </a:p>
                  </a:txBody>
                  <a:tcPr anchor="ctr" marB="63500" marT="635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3" name="Content Placeholder 2"/>
          <p:cNvSpPr>
            <a:spLocks noGrp="1"/>
          </p:cNvSpPr>
          <p:nvPr>
            <p:ph idx="1"/>
          </p:nvPr>
        </p:nvSpPr>
        <p:spPr/>
        <p:txBody>
          <a:bodyPr/>
          <a:lstStyle/>
          <a:p>
            <a:pPr lvl="0" indent="0" marL="0">
              <a:buNone/>
            </a:pPr>
            <a:r>
              <a:rPr/>
              <a:t>Charter schools were not eligible for DA in 2022-23, so there are no charters that are included in this list for the year 2024-25.</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52071</dc:title>
  <dc:creator/>
  <cp:keywords/>
  <dcterms:created xsi:type="dcterms:W3CDTF">2024-11-25T16:49:37Z</dcterms:created>
  <dcterms:modified xsi:type="dcterms:W3CDTF">2024-11-25T16:49:37Z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visual</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toc-title">
    <vt:lpwstr>Table of contents</vt:lpwstr>
  </property>
</Properties>
</file>