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package/2006/relationships/metadata/extended-properties" Target="docProps/app0.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5B2E30-D0A6-0376-3766-97FD3E5A7EED}" v="17" dt="2025-06-09T16:49:58.4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cey Rodgers" userId="S::trodgers@solanocoe.net::98febc83-eff6-4001-9f5f-994c88444df4" providerId="AD" clId="Web-{DE5B2E30-D0A6-0376-3766-97FD3E5A7EED}"/>
    <pc:docChg chg="modSld">
      <pc:chgData name="Tacey Rodgers" userId="S::trodgers@solanocoe.net::98febc83-eff6-4001-9f5f-994c88444df4" providerId="AD" clId="Web-{DE5B2E30-D0A6-0376-3766-97FD3E5A7EED}" dt="2025-06-09T16:49:58.490" v="18" actId="20577"/>
      <pc:docMkLst>
        <pc:docMk/>
      </pc:docMkLst>
      <pc:sldChg chg="modSp">
        <pc:chgData name="Tacey Rodgers" userId="S::trodgers@solanocoe.net::98febc83-eff6-4001-9f5f-994c88444df4" providerId="AD" clId="Web-{DE5B2E30-D0A6-0376-3766-97FD3E5A7EED}" dt="2025-06-09T16:49:58.490" v="18" actId="20577"/>
        <pc:sldMkLst>
          <pc:docMk/>
          <pc:sldMk cId="0" sldId="272"/>
        </pc:sldMkLst>
        <pc:spChg chg="mod">
          <ac:chgData name="Tacey Rodgers" userId="S::trodgers@solanocoe.net::98febc83-eff6-4001-9f5f-994c88444df4" providerId="AD" clId="Web-{DE5B2E30-D0A6-0376-3766-97FD3E5A7EED}" dt="2025-06-09T16:49:58.490" v="18" actId="20577"/>
          <ac:spMkLst>
            <pc:docMk/>
            <pc:sldMk cId="0" sldId="272"/>
            <ac:spMk id="2" creationId="{00000000-0000-0000-0000-000000000000}"/>
          </ac:spMkLst>
        </pc:spChg>
      </pc:sldChg>
    </pc:docChg>
  </pc:docChgLst>
  <pc:docChgLst>
    <pc:chgData name="Joseph Knapp" userId="8a11c749-96f4-41b0-804c-1a22a4aabc36" providerId="ADAL" clId="{B5FDF9A8-98C3-4FF7-ADB6-115E2B10B0F3}"/>
    <pc:docChg chg="custSel modSld">
      <pc:chgData name="Joseph Knapp" userId="8a11c749-96f4-41b0-804c-1a22a4aabc36" providerId="ADAL" clId="{B5FDF9A8-98C3-4FF7-ADB6-115E2B10B0F3}" dt="2025-06-04T23:21:45.060" v="13" actId="113"/>
      <pc:docMkLst>
        <pc:docMk/>
      </pc:docMkLst>
      <pc:sldChg chg="modSp mod">
        <pc:chgData name="Joseph Knapp" userId="8a11c749-96f4-41b0-804c-1a22a4aabc36" providerId="ADAL" clId="{B5FDF9A8-98C3-4FF7-ADB6-115E2B10B0F3}" dt="2025-06-04T23:19:03.845" v="2" actId="27636"/>
        <pc:sldMkLst>
          <pc:docMk/>
          <pc:sldMk cId="0" sldId="264"/>
        </pc:sldMkLst>
        <pc:spChg chg="mod">
          <ac:chgData name="Joseph Knapp" userId="8a11c749-96f4-41b0-804c-1a22a4aabc36" providerId="ADAL" clId="{B5FDF9A8-98C3-4FF7-ADB6-115E2B10B0F3}" dt="2025-06-04T23:19:03.845" v="2" actId="27636"/>
          <ac:spMkLst>
            <pc:docMk/>
            <pc:sldMk cId="0" sldId="264"/>
            <ac:spMk id="2" creationId="{00000000-0000-0000-0000-000000000000}"/>
          </ac:spMkLst>
        </pc:spChg>
      </pc:sldChg>
      <pc:sldChg chg="modSp mod">
        <pc:chgData name="Joseph Knapp" userId="8a11c749-96f4-41b0-804c-1a22a4aabc36" providerId="ADAL" clId="{B5FDF9A8-98C3-4FF7-ADB6-115E2B10B0F3}" dt="2025-06-04T23:19:03.854" v="3" actId="27636"/>
        <pc:sldMkLst>
          <pc:docMk/>
          <pc:sldMk cId="0" sldId="265"/>
        </pc:sldMkLst>
        <pc:spChg chg="mod">
          <ac:chgData name="Joseph Knapp" userId="8a11c749-96f4-41b0-804c-1a22a4aabc36" providerId="ADAL" clId="{B5FDF9A8-98C3-4FF7-ADB6-115E2B10B0F3}" dt="2025-06-04T23:19:03.854" v="3" actId="27636"/>
          <ac:spMkLst>
            <pc:docMk/>
            <pc:sldMk cId="0" sldId="265"/>
            <ac:spMk id="2" creationId="{00000000-0000-0000-0000-000000000000}"/>
          </ac:spMkLst>
        </pc:spChg>
      </pc:sldChg>
      <pc:sldChg chg="modSp mod">
        <pc:chgData name="Joseph Knapp" userId="8a11c749-96f4-41b0-804c-1a22a4aabc36" providerId="ADAL" clId="{B5FDF9A8-98C3-4FF7-ADB6-115E2B10B0F3}" dt="2025-06-04T23:19:03.865" v="4" actId="27636"/>
        <pc:sldMkLst>
          <pc:docMk/>
          <pc:sldMk cId="0" sldId="268"/>
        </pc:sldMkLst>
        <pc:spChg chg="mod">
          <ac:chgData name="Joseph Knapp" userId="8a11c749-96f4-41b0-804c-1a22a4aabc36" providerId="ADAL" clId="{B5FDF9A8-98C3-4FF7-ADB6-115E2B10B0F3}" dt="2025-06-04T23:19:03.865" v="4" actId="27636"/>
          <ac:spMkLst>
            <pc:docMk/>
            <pc:sldMk cId="0" sldId="268"/>
            <ac:spMk id="2" creationId="{00000000-0000-0000-0000-000000000000}"/>
          </ac:spMkLst>
        </pc:spChg>
      </pc:sldChg>
      <pc:sldChg chg="modSp mod">
        <pc:chgData name="Joseph Knapp" userId="8a11c749-96f4-41b0-804c-1a22a4aabc36" providerId="ADAL" clId="{B5FDF9A8-98C3-4FF7-ADB6-115E2B10B0F3}" dt="2025-06-04T23:19:03.872" v="5" actId="27636"/>
        <pc:sldMkLst>
          <pc:docMk/>
          <pc:sldMk cId="0" sldId="269"/>
        </pc:sldMkLst>
        <pc:spChg chg="mod">
          <ac:chgData name="Joseph Knapp" userId="8a11c749-96f4-41b0-804c-1a22a4aabc36" providerId="ADAL" clId="{B5FDF9A8-98C3-4FF7-ADB6-115E2B10B0F3}" dt="2025-06-04T23:19:03.872" v="5" actId="27636"/>
          <ac:spMkLst>
            <pc:docMk/>
            <pc:sldMk cId="0" sldId="269"/>
            <ac:spMk id="2" creationId="{00000000-0000-0000-0000-000000000000}"/>
          </ac:spMkLst>
        </pc:spChg>
      </pc:sldChg>
      <pc:sldChg chg="modSp mod">
        <pc:chgData name="Joseph Knapp" userId="8a11c749-96f4-41b0-804c-1a22a4aabc36" providerId="ADAL" clId="{B5FDF9A8-98C3-4FF7-ADB6-115E2B10B0F3}" dt="2025-06-04T23:19:03.872" v="6" actId="27636"/>
        <pc:sldMkLst>
          <pc:docMk/>
          <pc:sldMk cId="0" sldId="270"/>
        </pc:sldMkLst>
        <pc:spChg chg="mod">
          <ac:chgData name="Joseph Knapp" userId="8a11c749-96f4-41b0-804c-1a22a4aabc36" providerId="ADAL" clId="{B5FDF9A8-98C3-4FF7-ADB6-115E2B10B0F3}" dt="2025-06-04T23:19:03.872" v="6" actId="27636"/>
          <ac:spMkLst>
            <pc:docMk/>
            <pc:sldMk cId="0" sldId="270"/>
            <ac:spMk id="2" creationId="{00000000-0000-0000-0000-000000000000}"/>
          </ac:spMkLst>
        </pc:spChg>
      </pc:sldChg>
      <pc:sldChg chg="modSp mod">
        <pc:chgData name="Joseph Knapp" userId="8a11c749-96f4-41b0-804c-1a22a4aabc36" providerId="ADAL" clId="{B5FDF9A8-98C3-4FF7-ADB6-115E2B10B0F3}" dt="2025-06-04T23:21:45.060" v="13" actId="113"/>
        <pc:sldMkLst>
          <pc:docMk/>
          <pc:sldMk cId="0" sldId="274"/>
        </pc:sldMkLst>
        <pc:spChg chg="mod">
          <ac:chgData name="Joseph Knapp" userId="8a11c749-96f4-41b0-804c-1a22a4aabc36" providerId="ADAL" clId="{B5FDF9A8-98C3-4FF7-ADB6-115E2B10B0F3}" dt="2025-06-04T23:21:45.060" v="13" actId="113"/>
          <ac:spMkLst>
            <pc:docMk/>
            <pc:sldMk cId="0" sldId="274"/>
            <ac:spMk id="3" creationId="{00000000-0000-0000-0000-000000000000}"/>
          </ac:spMkLst>
        </pc:spChg>
      </pc:sldChg>
      <pc:sldChg chg="modSp mod">
        <pc:chgData name="Joseph Knapp" userId="8a11c749-96f4-41b0-804c-1a22a4aabc36" providerId="ADAL" clId="{B5FDF9A8-98C3-4FF7-ADB6-115E2B10B0F3}" dt="2025-06-04T23:19:03.834" v="1" actId="27636"/>
        <pc:sldMkLst>
          <pc:docMk/>
          <pc:sldMk cId="0" sldId="275"/>
        </pc:sldMkLst>
        <pc:spChg chg="mod">
          <ac:chgData name="Joseph Knapp" userId="8a11c749-96f4-41b0-804c-1a22a4aabc36" providerId="ADAL" clId="{B5FDF9A8-98C3-4FF7-ADB6-115E2B10B0F3}" dt="2025-06-04T23:19:03.834" v="1" actId="27636"/>
          <ac:spMkLst>
            <pc:docMk/>
            <pc:sldMk cId="0" sldId="275"/>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6/9/2025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6/9/2025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6/9/2025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6/9/2025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6/9/2025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ocs.google.com/presentation/d/1EjIV-kdEt3wYkxVFcowvXsGVYmJQp0y8/edit?amp%3Bouid=112932094157258562194&amp;amp%3Brtpof=true&amp;amp%3Bsd=true&amp;slide=id.p1#slide=id.p1" TargetMode="External"/><Relationship Id="rId2" Type="http://schemas.openxmlformats.org/officeDocument/2006/relationships/hyperlink" Target="https://www.cde.ca.gov/ta/ac/cm/dashboardresources.asp?tabsection=3" TargetMode="External"/><Relationship Id="rId1" Type="http://schemas.openxmlformats.org/officeDocument/2006/relationships/slideLayout" Target="../slideLayouts/slideLayout2.xml"/><Relationship Id="rId4" Type="http://schemas.openxmlformats.org/officeDocument/2006/relationships/hyperlink" Target="https://docs.google.com/presentation/d/1aA024QXF6dyNNGFpiuaNTOeB4lKwOVqmeJx6ChvcO_U/edit?slide=id.g24c1bafa518_0_284#slide=id.g24c1bafa518_0_284"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Science Colors</a:t>
            </a:r>
          </a:p>
        </p:txBody>
      </p:sp>
      <p:sp>
        <p:nvSpPr>
          <p:cNvPr id="3" name="Subtitle 2"/>
          <p:cNvSpPr>
            <a:spLocks noGrp="1"/>
          </p:cNvSpPr>
          <p:nvPr>
            <p:ph type="subTitle" idx="1"/>
          </p:nvPr>
        </p:nvSpPr>
        <p:spPr>
          <a:xfrm>
            <a:off x="1371600" y="2914650"/>
            <a:ext cx="6400800" cy="1314450"/>
          </a:xfrm>
        </p:spPr>
        <p:txBody>
          <a:bodyPr/>
          <a:lstStyle/>
          <a:p>
            <a:pPr marL="0" lvl="0" indent="0">
              <a:buNone/>
            </a:pPr>
            <a:br/>
            <a:b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Notes</a:t>
            </a:r>
          </a:p>
        </p:txBody>
      </p:sp>
      <p:sp>
        <p:nvSpPr>
          <p:cNvPr id="3" name="Content Placeholder 2"/>
          <p:cNvSpPr>
            <a:spLocks noGrp="1"/>
          </p:cNvSpPr>
          <p:nvPr>
            <p:ph idx="1"/>
          </p:nvPr>
        </p:nvSpPr>
        <p:spPr/>
        <p:txBody>
          <a:bodyPr/>
          <a:lstStyle/>
          <a:p>
            <a:pPr marL="0" lvl="0" indent="0">
              <a:buNone/>
            </a:pPr>
            <a:r>
              <a:t>The following graphics are using status levels and color calculated by Solano County Office of Education based on guidance from CDE to assist LEAs in understanding possible updates related to the science indicator on the CA Dashboard.</a:t>
            </a:r>
          </a:p>
          <a:p>
            <a:pPr marL="0" lvl="0" indent="0">
              <a:buNone/>
            </a:pPr>
            <a:r>
              <a:rPr b="1"/>
              <a:t>All calculations such as science points, status level, change level, and color were not provided by CDE and should be treated as hypothetical.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Sources</a:t>
            </a:r>
          </a:p>
        </p:txBody>
      </p:sp>
      <p:sp>
        <p:nvSpPr>
          <p:cNvPr id="3" name="Content Placeholder 2"/>
          <p:cNvSpPr>
            <a:spLocks noGrp="1"/>
          </p:cNvSpPr>
          <p:nvPr>
            <p:ph idx="1"/>
          </p:nvPr>
        </p:nvSpPr>
        <p:spPr/>
        <p:txBody>
          <a:bodyPr/>
          <a:lstStyle/>
          <a:p>
            <a:pPr marL="0" lvl="0" indent="0">
              <a:buNone/>
            </a:pPr>
            <a:r>
              <a:t>Data is from the CDE CA Dashboard.</a:t>
            </a:r>
          </a:p>
          <a:p>
            <a:pPr marL="0" lvl="0" indent="0">
              <a:buNone/>
            </a:pPr>
            <a:r>
              <a:rPr>
                <a:hlinkClick r:id="rId2"/>
              </a:rPr>
              <a:t>Downloadable data files</a:t>
            </a:r>
          </a:p>
          <a:p>
            <a:pPr marL="0" lvl="0" indent="0">
              <a:buNone/>
            </a:pPr>
            <a:r>
              <a:t>Calculations are based on information in the following presentations:</a:t>
            </a:r>
          </a:p>
          <a:p>
            <a:pPr marL="0" lvl="0" indent="0">
              <a:buNone/>
            </a:pPr>
            <a:r>
              <a:rPr>
                <a:hlinkClick r:id="rId3"/>
              </a:rPr>
              <a:t>CDE: Updates to Accountability System March 5, 2025</a:t>
            </a:r>
          </a:p>
          <a:p>
            <a:pPr marL="0" lvl="0" indent="0">
              <a:buNone/>
            </a:pPr>
            <a:r>
              <a:rPr>
                <a:hlinkClick r:id="rId4"/>
              </a:rPr>
              <a:t>Region 4 Assessment Network: March 27, 2025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Science Status Cut Scores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lvl="0" indent="0">
                        <a:buNone/>
                      </a:pPr>
                      <a:r>
                        <a:t>Status Level</a:t>
                      </a:r>
                    </a:p>
                  </a:txBody>
                  <a:tcPr/>
                </a:tc>
                <a:tc>
                  <a:txBody>
                    <a:bodyPr/>
                    <a:lstStyle/>
                    <a:p>
                      <a:pPr marL="0" lvl="0" indent="0">
                        <a:buNone/>
                      </a:pPr>
                      <a:r>
                        <a:t>Status Cut Scores</a:t>
                      </a:r>
                    </a:p>
                  </a:txBody>
                  <a:tcPr/>
                </a:tc>
                <a:extLst>
                  <a:ext uri="{0D108BD9-81ED-4DB2-BD59-A6C34878D82A}">
                    <a16:rowId xmlns:a16="http://schemas.microsoft.com/office/drawing/2014/main" val="10000"/>
                  </a:ext>
                </a:extLst>
              </a:tr>
              <a:tr h="0">
                <a:tc>
                  <a:txBody>
                    <a:bodyPr/>
                    <a:lstStyle/>
                    <a:p>
                      <a:pPr marL="0" lvl="0" indent="0">
                        <a:buNone/>
                      </a:pPr>
                      <a:r>
                        <a:t>Very Low</a:t>
                      </a:r>
                    </a:p>
                  </a:txBody>
                  <a:tcPr/>
                </a:tc>
                <a:tc>
                  <a:txBody>
                    <a:bodyPr/>
                    <a:lstStyle/>
                    <a:p>
                      <a:pPr marL="0" lvl="0" indent="0">
                        <a:buNone/>
                      </a:pPr>
                      <a:r>
                        <a:t>34.9 Science Points of Fewer</a:t>
                      </a:r>
                    </a:p>
                  </a:txBody>
                  <a:tcPr/>
                </a:tc>
                <a:extLst>
                  <a:ext uri="{0D108BD9-81ED-4DB2-BD59-A6C34878D82A}">
                    <a16:rowId xmlns:a16="http://schemas.microsoft.com/office/drawing/2014/main" val="10001"/>
                  </a:ext>
                </a:extLst>
              </a:tr>
              <a:tr h="0">
                <a:tc>
                  <a:txBody>
                    <a:bodyPr/>
                    <a:lstStyle/>
                    <a:p>
                      <a:pPr marL="0" lvl="0" indent="0">
                        <a:buNone/>
                      </a:pPr>
                      <a:r>
                        <a:t>Low</a:t>
                      </a:r>
                    </a:p>
                  </a:txBody>
                  <a:tcPr/>
                </a:tc>
                <a:tc>
                  <a:txBody>
                    <a:bodyPr/>
                    <a:lstStyle/>
                    <a:p>
                      <a:pPr marL="0" lvl="0" indent="0">
                        <a:buNone/>
                      </a:pPr>
                      <a:r>
                        <a:t>35.0 to 44.9 Science Points</a:t>
                      </a:r>
                    </a:p>
                  </a:txBody>
                  <a:tcPr/>
                </a:tc>
                <a:extLst>
                  <a:ext uri="{0D108BD9-81ED-4DB2-BD59-A6C34878D82A}">
                    <a16:rowId xmlns:a16="http://schemas.microsoft.com/office/drawing/2014/main" val="10002"/>
                  </a:ext>
                </a:extLst>
              </a:tr>
              <a:tr h="0">
                <a:tc>
                  <a:txBody>
                    <a:bodyPr/>
                    <a:lstStyle/>
                    <a:p>
                      <a:pPr marL="0" lvl="0" indent="0">
                        <a:buNone/>
                      </a:pPr>
                      <a:r>
                        <a:t>Medium</a:t>
                      </a:r>
                    </a:p>
                  </a:txBody>
                  <a:tcPr/>
                </a:tc>
                <a:tc>
                  <a:txBody>
                    <a:bodyPr/>
                    <a:lstStyle/>
                    <a:p>
                      <a:pPr marL="0" lvl="0" indent="0">
                        <a:buNone/>
                      </a:pPr>
                      <a:r>
                        <a:t>45.0 to 54.9 Science Points</a:t>
                      </a:r>
                    </a:p>
                  </a:txBody>
                  <a:tcPr/>
                </a:tc>
                <a:extLst>
                  <a:ext uri="{0D108BD9-81ED-4DB2-BD59-A6C34878D82A}">
                    <a16:rowId xmlns:a16="http://schemas.microsoft.com/office/drawing/2014/main" val="10003"/>
                  </a:ext>
                </a:extLst>
              </a:tr>
              <a:tr h="0">
                <a:tc>
                  <a:txBody>
                    <a:bodyPr/>
                    <a:lstStyle/>
                    <a:p>
                      <a:pPr marL="0" lvl="0" indent="0">
                        <a:buNone/>
                      </a:pPr>
                      <a:r>
                        <a:t>High</a:t>
                      </a:r>
                    </a:p>
                  </a:txBody>
                  <a:tcPr/>
                </a:tc>
                <a:tc>
                  <a:txBody>
                    <a:bodyPr/>
                    <a:lstStyle/>
                    <a:p>
                      <a:pPr marL="0" lvl="0" indent="0">
                        <a:buNone/>
                      </a:pPr>
                      <a:r>
                        <a:t>55.0 to 64.9 Science Points</a:t>
                      </a:r>
                    </a:p>
                  </a:txBody>
                  <a:tcPr/>
                </a:tc>
                <a:extLst>
                  <a:ext uri="{0D108BD9-81ED-4DB2-BD59-A6C34878D82A}">
                    <a16:rowId xmlns:a16="http://schemas.microsoft.com/office/drawing/2014/main" val="10004"/>
                  </a:ext>
                </a:extLst>
              </a:tr>
              <a:tr h="0">
                <a:tc>
                  <a:txBody>
                    <a:bodyPr/>
                    <a:lstStyle/>
                    <a:p>
                      <a:pPr marL="0" lvl="0" indent="0">
                        <a:buNone/>
                      </a:pPr>
                      <a:r>
                        <a:t>Very High</a:t>
                      </a:r>
                    </a:p>
                  </a:txBody>
                  <a:tcPr/>
                </a:tc>
                <a:tc>
                  <a:txBody>
                    <a:bodyPr/>
                    <a:lstStyle/>
                    <a:p>
                      <a:pPr marL="0" lvl="0" indent="0">
                        <a:buNone/>
                      </a:pPr>
                      <a:r>
                        <a:t>65.0 Science Points or More</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Science Change Cut Scores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895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0">
                <a:tc>
                  <a:txBody>
                    <a:bodyPr/>
                    <a:lstStyle/>
                    <a:p>
                      <a:pPr marL="0" lvl="0" indent="0">
                        <a:buNone/>
                      </a:pPr>
                      <a:r>
                        <a:t>Change Level</a:t>
                      </a:r>
                    </a:p>
                  </a:txBody>
                  <a:tcPr/>
                </a:tc>
                <a:tc>
                  <a:txBody>
                    <a:bodyPr/>
                    <a:lstStyle/>
                    <a:p>
                      <a:pPr marL="0" lvl="0" indent="0">
                        <a:buNone/>
                      </a:pPr>
                      <a:r>
                        <a:t>Change Cut Score</a:t>
                      </a:r>
                    </a:p>
                  </a:txBody>
                  <a:tcPr/>
                </a:tc>
                <a:extLst>
                  <a:ext uri="{0D108BD9-81ED-4DB2-BD59-A6C34878D82A}">
                    <a16:rowId xmlns:a16="http://schemas.microsoft.com/office/drawing/2014/main" val="10000"/>
                  </a:ext>
                </a:extLst>
              </a:tr>
              <a:tr h="0">
                <a:tc>
                  <a:txBody>
                    <a:bodyPr/>
                    <a:lstStyle/>
                    <a:p>
                      <a:pPr marL="0" lvl="0" indent="0">
                        <a:buNone/>
                      </a:pPr>
                      <a:r>
                        <a:t>Declined Significantly</a:t>
                      </a:r>
                    </a:p>
                  </a:txBody>
                  <a:tcPr/>
                </a:tc>
                <a:tc>
                  <a:txBody>
                    <a:bodyPr/>
                    <a:lstStyle/>
                    <a:p>
                      <a:pPr marL="0" lvl="0" indent="0">
                        <a:buNone/>
                      </a:pPr>
                      <a:r>
                        <a:t>Declined by 5.1 points or more</a:t>
                      </a:r>
                    </a:p>
                  </a:txBody>
                  <a:tcPr/>
                </a:tc>
                <a:extLst>
                  <a:ext uri="{0D108BD9-81ED-4DB2-BD59-A6C34878D82A}">
                    <a16:rowId xmlns:a16="http://schemas.microsoft.com/office/drawing/2014/main" val="10001"/>
                  </a:ext>
                </a:extLst>
              </a:tr>
              <a:tr h="0">
                <a:tc>
                  <a:txBody>
                    <a:bodyPr/>
                    <a:lstStyle/>
                    <a:p>
                      <a:pPr marL="0" lvl="0" indent="0">
                        <a:buNone/>
                      </a:pPr>
                      <a:r>
                        <a:t>Declined</a:t>
                      </a:r>
                    </a:p>
                  </a:txBody>
                  <a:tcPr/>
                </a:tc>
                <a:tc>
                  <a:txBody>
                    <a:bodyPr/>
                    <a:lstStyle/>
                    <a:p>
                      <a:pPr marL="0" lvl="0" indent="0">
                        <a:buNone/>
                      </a:pPr>
                      <a:r>
                        <a:t>Declined by 2.0 to 5.0 points</a:t>
                      </a:r>
                    </a:p>
                  </a:txBody>
                  <a:tcPr/>
                </a:tc>
                <a:extLst>
                  <a:ext uri="{0D108BD9-81ED-4DB2-BD59-A6C34878D82A}">
                    <a16:rowId xmlns:a16="http://schemas.microsoft.com/office/drawing/2014/main" val="10002"/>
                  </a:ext>
                </a:extLst>
              </a:tr>
              <a:tr h="0">
                <a:tc>
                  <a:txBody>
                    <a:bodyPr/>
                    <a:lstStyle/>
                    <a:p>
                      <a:pPr marL="0" lvl="0" indent="0">
                        <a:buNone/>
                      </a:pPr>
                      <a:r>
                        <a:t>Maintained</a:t>
                      </a:r>
                    </a:p>
                  </a:txBody>
                  <a:tcPr/>
                </a:tc>
                <a:tc>
                  <a:txBody>
                    <a:bodyPr/>
                    <a:lstStyle/>
                    <a:p>
                      <a:pPr marL="0" lvl="0" indent="0">
                        <a:buNone/>
                      </a:pPr>
                      <a:r>
                        <a:t>Declined or increased by 1.9 points or fewer</a:t>
                      </a:r>
                    </a:p>
                  </a:txBody>
                  <a:tcPr/>
                </a:tc>
                <a:extLst>
                  <a:ext uri="{0D108BD9-81ED-4DB2-BD59-A6C34878D82A}">
                    <a16:rowId xmlns:a16="http://schemas.microsoft.com/office/drawing/2014/main" val="10003"/>
                  </a:ext>
                </a:extLst>
              </a:tr>
              <a:tr h="0">
                <a:tc>
                  <a:txBody>
                    <a:bodyPr/>
                    <a:lstStyle/>
                    <a:p>
                      <a:pPr marL="0" lvl="0" indent="0">
                        <a:buNone/>
                      </a:pPr>
                      <a:r>
                        <a:t>Increased</a:t>
                      </a:r>
                    </a:p>
                  </a:txBody>
                  <a:tcPr/>
                </a:tc>
                <a:tc>
                  <a:txBody>
                    <a:bodyPr/>
                    <a:lstStyle/>
                    <a:p>
                      <a:pPr marL="0" lvl="0" indent="0">
                        <a:buNone/>
                      </a:pPr>
                      <a:r>
                        <a:t>Increased by 2.0 to 4.9 points</a:t>
                      </a:r>
                    </a:p>
                  </a:txBody>
                  <a:tcPr/>
                </a:tc>
                <a:extLst>
                  <a:ext uri="{0D108BD9-81ED-4DB2-BD59-A6C34878D82A}">
                    <a16:rowId xmlns:a16="http://schemas.microsoft.com/office/drawing/2014/main" val="10004"/>
                  </a:ext>
                </a:extLst>
              </a:tr>
              <a:tr h="0">
                <a:tc>
                  <a:txBody>
                    <a:bodyPr/>
                    <a:lstStyle/>
                    <a:p>
                      <a:pPr marL="0" lvl="0" indent="0">
                        <a:buNone/>
                      </a:pPr>
                      <a:r>
                        <a:t>Increased Significantly</a:t>
                      </a:r>
                    </a:p>
                  </a:txBody>
                  <a:tcPr/>
                </a:tc>
                <a:tc>
                  <a:txBody>
                    <a:bodyPr/>
                    <a:lstStyle/>
                    <a:p>
                      <a:pPr marL="0" lvl="0" indent="0">
                        <a:buNone/>
                      </a:pPr>
                      <a:r>
                        <a:t>Increased by 5.0 points or more</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Scale Score Ranges for CAST</a:t>
            </a:r>
          </a:p>
        </p:txBody>
      </p:sp>
      <p:sp>
        <p:nvSpPr>
          <p:cNvPr id="4" name="Text Placeholder 3"/>
          <p:cNvSpPr>
            <a:spLocks noGrp="1"/>
          </p:cNvSpPr>
          <p:nvPr>
            <p:ph type="body" sz="half" idx="2"/>
          </p:nvPr>
        </p:nvSpPr>
        <p:spPr/>
        <p:txBody>
          <a:bodyPr/>
          <a:lstStyle/>
          <a:p>
            <a:pPr marL="0" lvl="0" indent="0">
              <a:buNone/>
            </a:pPr>
            <a:r>
              <a:t>Science Points are calculated from lowest point value of level 1 which sets the lowest score to 0 for each grade.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tblGrid>
              <a:tr h="0">
                <a:tc>
                  <a:txBody>
                    <a:bodyPr/>
                    <a:lstStyle/>
                    <a:p>
                      <a:pPr marL="0" lvl="0" indent="0">
                        <a:buNone/>
                      </a:pPr>
                      <a:r>
                        <a:t>Grade</a:t>
                      </a:r>
                    </a:p>
                  </a:txBody>
                  <a:tcPr/>
                </a:tc>
                <a:tc>
                  <a:txBody>
                    <a:bodyPr/>
                    <a:lstStyle/>
                    <a:p>
                      <a:pPr marL="0" lvl="0" indent="0">
                        <a:buNone/>
                      </a:pPr>
                      <a:r>
                        <a:t>Level 1</a:t>
                      </a:r>
                    </a:p>
                  </a:txBody>
                  <a:tcPr/>
                </a:tc>
                <a:tc>
                  <a:txBody>
                    <a:bodyPr/>
                    <a:lstStyle/>
                    <a:p>
                      <a:pPr marL="0" lvl="0" indent="0">
                        <a:buNone/>
                      </a:pPr>
                      <a:r>
                        <a:t>Level 2</a:t>
                      </a:r>
                    </a:p>
                  </a:txBody>
                  <a:tcPr/>
                </a:tc>
                <a:tc>
                  <a:txBody>
                    <a:bodyPr/>
                    <a:lstStyle/>
                    <a:p>
                      <a:pPr marL="0" lvl="0" indent="0">
                        <a:buNone/>
                      </a:pPr>
                      <a:r>
                        <a:t>Level 3</a:t>
                      </a:r>
                    </a:p>
                  </a:txBody>
                  <a:tcPr/>
                </a:tc>
                <a:tc>
                  <a:txBody>
                    <a:bodyPr/>
                    <a:lstStyle/>
                    <a:p>
                      <a:pPr marL="0" lvl="0" indent="0">
                        <a:buNone/>
                      </a:pPr>
                      <a:r>
                        <a:t>Level 4</a:t>
                      </a:r>
                    </a:p>
                  </a:txBody>
                  <a:tcPr/>
                </a:tc>
                <a:extLst>
                  <a:ext uri="{0D108BD9-81ED-4DB2-BD59-A6C34878D82A}">
                    <a16:rowId xmlns:a16="http://schemas.microsoft.com/office/drawing/2014/main" val="10000"/>
                  </a:ext>
                </a:extLst>
              </a:tr>
              <a:tr h="0">
                <a:tc>
                  <a:txBody>
                    <a:bodyPr/>
                    <a:lstStyle/>
                    <a:p>
                      <a:pPr marL="0" lvl="0" indent="0">
                        <a:buNone/>
                      </a:pPr>
                      <a:r>
                        <a:rPr b="1"/>
                        <a:t>Grade 5</a:t>
                      </a:r>
                    </a:p>
                  </a:txBody>
                  <a:tcPr/>
                </a:tc>
                <a:tc>
                  <a:txBody>
                    <a:bodyPr/>
                    <a:lstStyle/>
                    <a:p>
                      <a:pPr marL="0" lvl="0" indent="0">
                        <a:buNone/>
                      </a:pPr>
                      <a:r>
                        <a:t>0-28</a:t>
                      </a:r>
                    </a:p>
                  </a:txBody>
                  <a:tcPr/>
                </a:tc>
                <a:tc>
                  <a:txBody>
                    <a:bodyPr/>
                    <a:lstStyle/>
                    <a:p>
                      <a:pPr marL="0" lvl="0" indent="0">
                        <a:buNone/>
                      </a:pPr>
                      <a:r>
                        <a:t>29-63</a:t>
                      </a:r>
                    </a:p>
                  </a:txBody>
                  <a:tcPr/>
                </a:tc>
                <a:tc>
                  <a:txBody>
                    <a:bodyPr/>
                    <a:lstStyle/>
                    <a:p>
                      <a:pPr marL="0" lvl="0" indent="0">
                        <a:buNone/>
                      </a:pPr>
                      <a:r>
                        <a:t>64-80</a:t>
                      </a:r>
                    </a:p>
                  </a:txBody>
                  <a:tcPr/>
                </a:tc>
                <a:tc>
                  <a:txBody>
                    <a:bodyPr/>
                    <a:lstStyle/>
                    <a:p>
                      <a:pPr marL="0" lvl="0" indent="0">
                        <a:buNone/>
                      </a:pPr>
                      <a:r>
                        <a:t>81-100</a:t>
                      </a:r>
                    </a:p>
                  </a:txBody>
                  <a:tcPr/>
                </a:tc>
                <a:extLst>
                  <a:ext uri="{0D108BD9-81ED-4DB2-BD59-A6C34878D82A}">
                    <a16:rowId xmlns:a16="http://schemas.microsoft.com/office/drawing/2014/main" val="10001"/>
                  </a:ext>
                </a:extLst>
              </a:tr>
              <a:tr h="0">
                <a:tc>
                  <a:txBody>
                    <a:bodyPr/>
                    <a:lstStyle/>
                    <a:p>
                      <a:pPr marL="0" lvl="0" indent="0">
                        <a:buNone/>
                      </a:pPr>
                      <a:r>
                        <a:rPr b="1"/>
                        <a:t>Grade 8</a:t>
                      </a:r>
                    </a:p>
                  </a:txBody>
                  <a:tcPr/>
                </a:tc>
                <a:tc>
                  <a:txBody>
                    <a:bodyPr/>
                    <a:lstStyle/>
                    <a:p>
                      <a:pPr marL="0" lvl="0" indent="0">
                        <a:buNone/>
                      </a:pPr>
                      <a:r>
                        <a:t>0-27</a:t>
                      </a:r>
                    </a:p>
                  </a:txBody>
                  <a:tcPr/>
                </a:tc>
                <a:tc>
                  <a:txBody>
                    <a:bodyPr/>
                    <a:lstStyle/>
                    <a:p>
                      <a:pPr marL="0" lvl="0" indent="0">
                        <a:buNone/>
                      </a:pPr>
                      <a:r>
                        <a:t>28-64</a:t>
                      </a:r>
                    </a:p>
                  </a:txBody>
                  <a:tcPr/>
                </a:tc>
                <a:tc>
                  <a:txBody>
                    <a:bodyPr/>
                    <a:lstStyle/>
                    <a:p>
                      <a:pPr marL="0" lvl="0" indent="0">
                        <a:buNone/>
                      </a:pPr>
                      <a:r>
                        <a:t>65-82</a:t>
                      </a:r>
                    </a:p>
                  </a:txBody>
                  <a:tcPr/>
                </a:tc>
                <a:tc>
                  <a:txBody>
                    <a:bodyPr/>
                    <a:lstStyle/>
                    <a:p>
                      <a:pPr marL="0" lvl="0" indent="0">
                        <a:buNone/>
                      </a:pPr>
                      <a:r>
                        <a:t>83-100</a:t>
                      </a:r>
                    </a:p>
                  </a:txBody>
                  <a:tcPr/>
                </a:tc>
                <a:extLst>
                  <a:ext uri="{0D108BD9-81ED-4DB2-BD59-A6C34878D82A}">
                    <a16:rowId xmlns:a16="http://schemas.microsoft.com/office/drawing/2014/main" val="10002"/>
                  </a:ext>
                </a:extLst>
              </a:tr>
              <a:tr h="0">
                <a:tc>
                  <a:txBody>
                    <a:bodyPr/>
                    <a:lstStyle/>
                    <a:p>
                      <a:pPr marL="0" lvl="0" indent="0">
                        <a:buNone/>
                      </a:pPr>
                      <a:r>
                        <a:rPr b="1"/>
                        <a:t>Grades 10-12</a:t>
                      </a:r>
                    </a:p>
                  </a:txBody>
                  <a:tcPr/>
                </a:tc>
                <a:tc>
                  <a:txBody>
                    <a:bodyPr/>
                    <a:lstStyle/>
                    <a:p>
                      <a:pPr marL="0" lvl="0" indent="0">
                        <a:buNone/>
                      </a:pPr>
                      <a:r>
                        <a:t>0-25</a:t>
                      </a:r>
                    </a:p>
                  </a:txBody>
                  <a:tcPr/>
                </a:tc>
                <a:tc>
                  <a:txBody>
                    <a:bodyPr/>
                    <a:lstStyle/>
                    <a:p>
                      <a:pPr marL="0" lvl="0" indent="0">
                        <a:buNone/>
                      </a:pPr>
                      <a:r>
                        <a:t>26-64</a:t>
                      </a:r>
                    </a:p>
                  </a:txBody>
                  <a:tcPr/>
                </a:tc>
                <a:tc>
                  <a:txBody>
                    <a:bodyPr/>
                    <a:lstStyle/>
                    <a:p>
                      <a:pPr marL="0" lvl="0" indent="0">
                        <a:buNone/>
                      </a:pPr>
                      <a:r>
                        <a:t>65-85</a:t>
                      </a:r>
                    </a:p>
                  </a:txBody>
                  <a:tcPr/>
                </a:tc>
                <a:tc>
                  <a:txBody>
                    <a:bodyPr/>
                    <a:lstStyle/>
                    <a:p>
                      <a:pPr marL="0" lvl="0" indent="0">
                        <a:buNone/>
                      </a:pPr>
                      <a:r>
                        <a:t>86-100</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Science Point Equivalents for CAA</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lvl="0" indent="0">
                        <a:buNone/>
                      </a:pPr>
                      <a:r>
                        <a:t>Grade</a:t>
                      </a:r>
                    </a:p>
                  </a:txBody>
                  <a:tcPr/>
                </a:tc>
                <a:tc>
                  <a:txBody>
                    <a:bodyPr/>
                    <a:lstStyle/>
                    <a:p>
                      <a:pPr marL="0" lvl="0" indent="0">
                        <a:buNone/>
                      </a:pPr>
                      <a:r>
                        <a:t>Level 1 Science Point Equivalent</a:t>
                      </a:r>
                    </a:p>
                  </a:txBody>
                  <a:tcPr/>
                </a:tc>
                <a:tc>
                  <a:txBody>
                    <a:bodyPr/>
                    <a:lstStyle/>
                    <a:p>
                      <a:pPr marL="0" lvl="0" indent="0">
                        <a:buNone/>
                      </a:pPr>
                      <a:r>
                        <a:t>Level 2 Science Point Equivalent</a:t>
                      </a:r>
                    </a:p>
                  </a:txBody>
                  <a:tcPr/>
                </a:tc>
                <a:tc>
                  <a:txBody>
                    <a:bodyPr/>
                    <a:lstStyle/>
                    <a:p>
                      <a:pPr marL="0" lvl="0" indent="0">
                        <a:buNone/>
                      </a:pPr>
                      <a:r>
                        <a:t>Level 3 Science Point Equivalent</a:t>
                      </a:r>
                    </a:p>
                  </a:txBody>
                  <a:tcPr/>
                </a:tc>
                <a:extLst>
                  <a:ext uri="{0D108BD9-81ED-4DB2-BD59-A6C34878D82A}">
                    <a16:rowId xmlns:a16="http://schemas.microsoft.com/office/drawing/2014/main" val="10000"/>
                  </a:ext>
                </a:extLst>
              </a:tr>
              <a:tr h="0">
                <a:tc>
                  <a:txBody>
                    <a:bodyPr/>
                    <a:lstStyle/>
                    <a:p>
                      <a:pPr marL="0" lvl="0" indent="0">
                        <a:buNone/>
                      </a:pPr>
                      <a:r>
                        <a:rPr b="1"/>
                        <a:t>Grade 5</a:t>
                      </a:r>
                    </a:p>
                  </a:txBody>
                  <a:tcPr/>
                </a:tc>
                <a:tc>
                  <a:txBody>
                    <a:bodyPr/>
                    <a:lstStyle/>
                    <a:p>
                      <a:pPr marL="0" lvl="0" indent="0">
                        <a:buNone/>
                      </a:pPr>
                      <a:r>
                        <a:t>28</a:t>
                      </a:r>
                    </a:p>
                  </a:txBody>
                  <a:tcPr/>
                </a:tc>
                <a:tc>
                  <a:txBody>
                    <a:bodyPr/>
                    <a:lstStyle/>
                    <a:p>
                      <a:pPr marL="0" lvl="0" indent="0">
                        <a:buNone/>
                      </a:pPr>
                      <a:r>
                        <a:t>63</a:t>
                      </a:r>
                    </a:p>
                  </a:txBody>
                  <a:tcPr/>
                </a:tc>
                <a:tc>
                  <a:txBody>
                    <a:bodyPr/>
                    <a:lstStyle/>
                    <a:p>
                      <a:pPr marL="0" lvl="0" indent="0">
                        <a:buNone/>
                      </a:pPr>
                      <a:r>
                        <a:t>80</a:t>
                      </a:r>
                    </a:p>
                  </a:txBody>
                  <a:tcPr/>
                </a:tc>
                <a:extLst>
                  <a:ext uri="{0D108BD9-81ED-4DB2-BD59-A6C34878D82A}">
                    <a16:rowId xmlns:a16="http://schemas.microsoft.com/office/drawing/2014/main" val="10001"/>
                  </a:ext>
                </a:extLst>
              </a:tr>
              <a:tr h="0">
                <a:tc>
                  <a:txBody>
                    <a:bodyPr/>
                    <a:lstStyle/>
                    <a:p>
                      <a:pPr marL="0" lvl="0" indent="0">
                        <a:buNone/>
                      </a:pPr>
                      <a:r>
                        <a:rPr b="1"/>
                        <a:t>Grade 8</a:t>
                      </a:r>
                    </a:p>
                  </a:txBody>
                  <a:tcPr/>
                </a:tc>
                <a:tc>
                  <a:txBody>
                    <a:bodyPr/>
                    <a:lstStyle/>
                    <a:p>
                      <a:pPr marL="0" lvl="0" indent="0">
                        <a:buNone/>
                      </a:pPr>
                      <a:r>
                        <a:t>27</a:t>
                      </a:r>
                    </a:p>
                  </a:txBody>
                  <a:tcPr/>
                </a:tc>
                <a:tc>
                  <a:txBody>
                    <a:bodyPr/>
                    <a:lstStyle/>
                    <a:p>
                      <a:pPr marL="0" lvl="0" indent="0">
                        <a:buNone/>
                      </a:pPr>
                      <a:r>
                        <a:t>64</a:t>
                      </a:r>
                    </a:p>
                  </a:txBody>
                  <a:tcPr/>
                </a:tc>
                <a:tc>
                  <a:txBody>
                    <a:bodyPr/>
                    <a:lstStyle/>
                    <a:p>
                      <a:pPr marL="0" lvl="0" indent="0">
                        <a:buNone/>
                      </a:pPr>
                      <a:r>
                        <a:t>82</a:t>
                      </a:r>
                    </a:p>
                  </a:txBody>
                  <a:tcPr/>
                </a:tc>
                <a:extLst>
                  <a:ext uri="{0D108BD9-81ED-4DB2-BD59-A6C34878D82A}">
                    <a16:rowId xmlns:a16="http://schemas.microsoft.com/office/drawing/2014/main" val="10002"/>
                  </a:ext>
                </a:extLst>
              </a:tr>
              <a:tr h="0">
                <a:tc>
                  <a:txBody>
                    <a:bodyPr/>
                    <a:lstStyle/>
                    <a:p>
                      <a:pPr marL="0" lvl="0" indent="0">
                        <a:buNone/>
                      </a:pPr>
                      <a:r>
                        <a:rPr b="1"/>
                        <a:t>Grades 10-12</a:t>
                      </a:r>
                    </a:p>
                  </a:txBody>
                  <a:tcPr/>
                </a:tc>
                <a:tc>
                  <a:txBody>
                    <a:bodyPr/>
                    <a:lstStyle/>
                    <a:p>
                      <a:pPr marL="0" lvl="0" indent="0">
                        <a:buNone/>
                      </a:pPr>
                      <a:r>
                        <a:t>25</a:t>
                      </a:r>
                    </a:p>
                  </a:txBody>
                  <a:tcPr/>
                </a:tc>
                <a:tc>
                  <a:txBody>
                    <a:bodyPr/>
                    <a:lstStyle/>
                    <a:p>
                      <a:pPr marL="0" lvl="0" indent="0">
                        <a:buNone/>
                      </a:pPr>
                      <a:r>
                        <a:t>64</a:t>
                      </a:r>
                    </a:p>
                  </a:txBody>
                  <a:tcPr/>
                </a:tc>
                <a:tc>
                  <a:txBody>
                    <a:bodyPr/>
                    <a:lstStyle/>
                    <a:p>
                      <a:pPr marL="0" lvl="0" indent="0">
                        <a:buNone/>
                      </a:pPr>
                      <a:r>
                        <a:t>85</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Reading the Graphics</a:t>
            </a:r>
          </a:p>
        </p:txBody>
      </p:sp>
      <p:pic>
        <p:nvPicPr>
          <p:cNvPr id="3" name="Picture 1" descr="dashboard-cell-key-CDE-change%20CSI.png"/>
          <p:cNvPicPr>
            <a:picLocks noGrp="1" noChangeAspect="1"/>
          </p:cNvPicPr>
          <p:nvPr/>
        </p:nvPicPr>
        <p:blipFill>
          <a:blip r:embed="rId2"/>
          <a:stretch>
            <a:fillRect/>
          </a:stretch>
        </p:blipFill>
        <p:spPr bwMode="auto">
          <a:xfrm>
            <a:off x="457200" y="1485900"/>
            <a:ext cx="8229600" cy="2819400"/>
          </a:xfrm>
          <a:prstGeom prst="rect">
            <a:avLst/>
          </a:prstGeom>
          <a:noFill/>
          <a:ln w="9525">
            <a:noFill/>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2024 District Science Simulation by Race/Ethnicity</a:t>
            </a:r>
          </a:p>
        </p:txBody>
      </p:sp>
      <p:pic>
        <p:nvPicPr>
          <p:cNvPr id="3" name="Picture 1" descr="science_colors_files/figure-pptx/science_colors_race_districts-1.png"/>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2024 Charter Science Simulation by Race/Ethnicity</a:t>
            </a:r>
          </a:p>
        </p:txBody>
      </p:sp>
      <p:pic>
        <p:nvPicPr>
          <p:cNvPr id="3" name="Picture 1" descr="science_colors_files/figure-pptx/science_colors_race_charters-1.png"/>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2024 District Science Simulation by Program</a:t>
            </a:r>
          </a:p>
        </p:txBody>
      </p:sp>
      <p:pic>
        <p:nvPicPr>
          <p:cNvPr id="3" name="Picture 1" descr="science_colors_files/figure-pptx/science_colors_program_districts-1.png"/>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2024 Charter Science Simulation by Program</a:t>
            </a:r>
          </a:p>
        </p:txBody>
      </p:sp>
      <p:pic>
        <p:nvPicPr>
          <p:cNvPr id="3" name="Picture 1" descr="science_colors_files/figure-pptx/science_colors_program_charters-1.png"/>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2024 District Science Participation Rates by Race/Ethnicity</a:t>
            </a:r>
          </a:p>
        </p:txBody>
      </p:sp>
      <p:pic>
        <p:nvPicPr>
          <p:cNvPr id="3" name="Picture 1" descr="science_colors_files/figure-pptx/district_participation_rates_race-1.png"/>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2024 Charter Participation Rates by Race/Ethnicity</a:t>
            </a:r>
          </a:p>
        </p:txBody>
      </p:sp>
      <p:pic>
        <p:nvPicPr>
          <p:cNvPr id="3" name="Picture 1" descr="science_colors_files/figure-pptx/charter_participation_rates_race-1.png"/>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2024 District Science Participation Rates by Program</a:t>
            </a:r>
          </a:p>
        </p:txBody>
      </p:sp>
      <p:pic>
        <p:nvPicPr>
          <p:cNvPr id="3" name="Picture 1" descr="science_colors_files/figure-pptx/district_participation_rates_program-1.png"/>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2024 Charter Participation Rates by Program</a:t>
            </a:r>
          </a:p>
        </p:txBody>
      </p:sp>
      <p:pic>
        <p:nvPicPr>
          <p:cNvPr id="3" name="Picture 1" descr="science_colors_files/figure-pptx/charter_participation_rates_program-1.png"/>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Math and Science Scores</a:t>
            </a:r>
            <a:r>
              <a:rPr lang="en-US"/>
              <a:t> </a:t>
            </a:r>
            <a:r>
              <a:rPr lang="en-US" sz="2000"/>
              <a:t>(by school and district)</a:t>
            </a:r>
            <a:endParaRPr lang="en-US" sz="2800">
              <a:ea typeface="Calibri"/>
              <a:cs typeface="Calibri"/>
            </a:endParaRPr>
          </a:p>
        </p:txBody>
      </p:sp>
      <p:pic>
        <p:nvPicPr>
          <p:cNvPr id="3" name="Picture 1" descr="science_colors_files/figure-pptx/math_science_points-1.png"/>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ELA and Science Scores</a:t>
            </a:r>
          </a:p>
        </p:txBody>
      </p:sp>
      <p:pic>
        <p:nvPicPr>
          <p:cNvPr id="3" name="Picture 1" descr="science_colors_files/figure-pptx/ela_science_points-1.png"/>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Summary of linear regressions</a:t>
            </a:r>
          </a:p>
        </p:txBody>
      </p:sp>
      <p:sp>
        <p:nvSpPr>
          <p:cNvPr id="3" name="Content Placeholder 2"/>
          <p:cNvSpPr>
            <a:spLocks noGrp="1"/>
          </p:cNvSpPr>
          <p:nvPr>
            <p:ph idx="1"/>
          </p:nvPr>
        </p:nvSpPr>
        <p:spPr/>
        <p:txBody>
          <a:bodyPr/>
          <a:lstStyle/>
          <a:p>
            <a:pPr marL="0" lvl="0" indent="0">
              <a:buNone/>
            </a:pPr>
            <a:r>
              <a:rPr lang="en-US"/>
              <a:t>Both Math and ELA CAASPP scores are positively associated with science scores. The slightly higher coefficient for ELA scores suggests a stronger effect size, while the higher R² for the ELA model indicates that ELA scores have a slightly greater predictive power at the LEA level. </a:t>
            </a:r>
            <a:r>
              <a:rPr lang="en-US" b="1"/>
              <a:t>These findings underscore the importance of literacy skills on the CAST exam.</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Distribution of Science Scores in CA districts for Select Student Groups</a:t>
            </a:r>
          </a:p>
        </p:txBody>
      </p:sp>
      <p:pic>
        <p:nvPicPr>
          <p:cNvPr id="3" name="Picture 1" descr="science_colors_files/figure-pptx/science_compare-1.png"/>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20</Slides>
  <Notes>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Science Colors</vt:lpstr>
      <vt:lpstr>Notes</vt:lpstr>
      <vt:lpstr>Sources</vt:lpstr>
      <vt:lpstr>Science Status Cut Scores</vt:lpstr>
      <vt:lpstr>Science Change Cut Scores</vt:lpstr>
      <vt:lpstr>Scale Score Ranges for CAST</vt:lpstr>
      <vt:lpstr>Science Point Equivalents for CAA</vt:lpstr>
      <vt:lpstr>Reading the Graphics</vt:lpstr>
      <vt:lpstr>2024 District Science Simulation by Race/Ethnicity</vt:lpstr>
      <vt:lpstr>2024 Charter Science Simulation by Race/Ethnicity</vt:lpstr>
      <vt:lpstr>2024 District Science Simulation by Program</vt:lpstr>
      <vt:lpstr>2024 Charter Science Simulation by Program</vt:lpstr>
      <vt:lpstr>2024 District Science Participation Rates by Race/Ethnicity</vt:lpstr>
      <vt:lpstr>2024 Charter Participation Rates by Race/Ethnicity</vt:lpstr>
      <vt:lpstr>2024 District Science Participation Rates by Program</vt:lpstr>
      <vt:lpstr>2024 Charter Participation Rates by Program</vt:lpstr>
      <vt:lpstr>Math and Science Scores (by school and district)</vt:lpstr>
      <vt:lpstr>ELA and Science Scores</vt:lpstr>
      <vt:lpstr>Summary of linear regressions</vt:lpstr>
      <vt:lpstr>Distribution of Science Scores in CA districts for Select Student Groups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Colors</dc:title>
  <dc:creator/>
  <cp:keywords/>
  <cp:revision>1</cp:revision>
  <dcterms:created xsi:type="dcterms:W3CDTF">2025-06-03T22:09:52Z</dcterms:created>
  <dcterms:modified xsi:type="dcterms:W3CDTF">2025-06-09T16:50:33Z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ditor">
    <vt:lpwstr>visual</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labels">
    <vt:lpwstr/>
  </property>
  <property fmtid="{D5CDD505-2E9C-101B-9397-08002B2CF9AE}" pid="8" name="logo">
    <vt:lpwstr>www/SCOE_Logo.jpg</vt:lpwstr>
  </property>
  <property fmtid="{D5CDD505-2E9C-101B-9397-08002B2CF9AE}" pid="9" name="toc-title">
    <vt:lpwstr>Table of contents</vt:lpwstr>
  </property>
</Properties>
</file>